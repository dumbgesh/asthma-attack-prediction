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rimo" charset="1" panose="020B060402020202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notesSlides/notesSlide2.xml" Type="http://schemas.openxmlformats.org/officeDocument/2006/relationships/notesSlide"/><Relationship Id="rId2" Target="presProps.xml" Type="http://schemas.openxmlformats.org/officeDocument/2006/relationships/presProps"/><Relationship Id="rId20" Target="notesSlides/notesSlide3.xml" Type="http://schemas.openxmlformats.org/officeDocument/2006/relationships/notesSlide"/><Relationship Id="rId21" Target="notesSlides/notesSlide4.xml" Type="http://schemas.openxmlformats.org/officeDocument/2006/relationships/notesSlide"/><Relationship Id="rId22" Target="notesSlides/notesSlide5.xml" Type="http://schemas.openxmlformats.org/officeDocument/2006/relationships/notesSlide"/><Relationship Id="rId23" Target="notesSlides/notesSlide6.xml" Type="http://schemas.openxmlformats.org/officeDocument/2006/relationships/notesSlide"/><Relationship Id="rId24" Target="notesSlides/notesSlide7.xml" Type="http://schemas.openxmlformats.org/officeDocument/2006/relationships/notesSlide"/><Relationship Id="rId25" Target="notesSlides/notesSlide8.xml" Type="http://schemas.openxmlformats.org/officeDocument/2006/relationships/notesSlide"/><Relationship Id="rId26" Target="notesSlides/notesSlide9.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project uses Categorical Naive Bayes to classify observations associated with asthma exacerbation. I will show the data preparation, test results and Power BI reporting.</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question is about observed associations, not what causes an exacerbation. These predictions are for an educational project and should not guide medical care.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majority of observations have no exacerbation, which makes accuracy easy to overinterpret. Repeated observations belong to the same patients, so the split must keep patients separate.</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Exploration checked the structure and the relationship of each variable to the outcome. The exact encoding of Ath still needs verification against the notebook; the patient-level split is detailed next.</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model learns how common each predictor category is within each outcome class. Its independence assumption is a simplification, so we judge it by held-out performance rather than by the simplicity of its logic.</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important result is that five of the seven actual exacerbations were missed. The model also flagged four observations that actually had no exacerbation, so detection was limited in both recall and precision.</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baseline gets higher accuracy simply by choosing the majority class every time. Naive Bayes detects some exacerbations, but equal class priors did not improve the reported results.</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dashboard uses the exported test predictions to make errors and outcome patterns easier to inspect. The screenshot still needs to be inserted, and the risk bands should be read as exploratory rather than clinical estimates.</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project covered the full workflow, but the held-out results show limited exacerbation detection. Future evaluation should focus on minority-class performance and stronger validation, with probability calibration before interpreting probabilities as risk. The reference details and original dataset source remain to be verified.</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 Id="rId4"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jpeg" Type="http://schemas.openxmlformats.org/officeDocument/2006/relationships/image"/><Relationship Id="rId4"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5095" y="7579338"/>
            <a:ext cx="5435441" cy="28594"/>
            <a:chOff x="0" y="0"/>
            <a:chExt cx="7247255" cy="38125"/>
          </a:xfrm>
        </p:grpSpPr>
        <p:sp>
          <p:nvSpPr>
            <p:cNvPr name="Freeform 3" id="3"/>
            <p:cNvSpPr/>
            <p:nvPr/>
          </p:nvSpPr>
          <p:spPr>
            <a:xfrm flipH="false" flipV="false" rot="0">
              <a:off x="0" y="0"/>
              <a:ext cx="7247255" cy="38100"/>
            </a:xfrm>
            <a:custGeom>
              <a:avLst/>
              <a:gdLst/>
              <a:ahLst/>
              <a:cxnLst/>
              <a:rect r="r" b="b" t="t" l="l"/>
              <a:pathLst>
                <a:path h="38100" w="7247255">
                  <a:moveTo>
                    <a:pt x="0" y="19050"/>
                  </a:moveTo>
                  <a:cubicBezTo>
                    <a:pt x="0" y="8509"/>
                    <a:pt x="8509" y="0"/>
                    <a:pt x="19050" y="0"/>
                  </a:cubicBezTo>
                  <a:lnTo>
                    <a:pt x="7228205" y="0"/>
                  </a:lnTo>
                  <a:cubicBezTo>
                    <a:pt x="7238747" y="0"/>
                    <a:pt x="7247255" y="8509"/>
                    <a:pt x="7247255" y="19050"/>
                  </a:cubicBezTo>
                  <a:cubicBezTo>
                    <a:pt x="7247255" y="29591"/>
                    <a:pt x="7238747" y="38100"/>
                    <a:pt x="7228205" y="38100"/>
                  </a:cubicBezTo>
                  <a:lnTo>
                    <a:pt x="19050" y="38100"/>
                  </a:lnTo>
                  <a:cubicBezTo>
                    <a:pt x="8509" y="38100"/>
                    <a:pt x="0" y="29591"/>
                    <a:pt x="0" y="19050"/>
                  </a:cubicBezTo>
                  <a:close/>
                </a:path>
              </a:pathLst>
            </a:custGeom>
            <a:solidFill>
              <a:srgbClr val="2563EB"/>
            </a:solidFill>
          </p:spPr>
        </p:sp>
      </p:grpSp>
      <p:grpSp>
        <p:nvGrpSpPr>
          <p:cNvPr name="Group 4" id="4"/>
          <p:cNvGrpSpPr/>
          <p:nvPr/>
        </p:nvGrpSpPr>
        <p:grpSpPr>
          <a:xfrm rot="0">
            <a:off x="15842785" y="1028700"/>
            <a:ext cx="1416515" cy="141651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p:spPr>
        </p:sp>
      </p:grpSp>
      <p:sp>
        <p:nvSpPr>
          <p:cNvPr name="TextBox 6" id="6"/>
          <p:cNvSpPr txBox="true"/>
          <p:nvPr/>
        </p:nvSpPr>
        <p:spPr>
          <a:xfrm rot="0">
            <a:off x="915095" y="868918"/>
            <a:ext cx="4677351" cy="283013"/>
          </a:xfrm>
          <a:prstGeom prst="rect">
            <a:avLst/>
          </a:prstGeom>
        </p:spPr>
        <p:txBody>
          <a:bodyPr anchor="t" rtlCol="false" tIns="0" lIns="0" bIns="0" rIns="0">
            <a:spAutoFit/>
          </a:bodyPr>
          <a:lstStyle/>
          <a:p>
            <a:pPr algn="l">
              <a:lnSpc>
                <a:spcPts val="2213"/>
              </a:lnSpc>
            </a:pPr>
            <a:r>
              <a:rPr lang="en-US" sz="1576" spc="157">
                <a:solidFill>
                  <a:srgbClr val="6B6965"/>
                </a:solidFill>
                <a:latin typeface="Arimo"/>
                <a:ea typeface="Arimo"/>
                <a:cs typeface="Arimo"/>
                <a:sym typeface="Arimo"/>
              </a:rPr>
              <a:t>DATA MINING</a:t>
            </a:r>
            <a:r>
              <a:rPr lang="en-US" sz="1576" spc="157">
                <a:solidFill>
                  <a:srgbClr val="6B6965"/>
                </a:solidFill>
                <a:latin typeface="Arimo"/>
                <a:ea typeface="Arimo"/>
                <a:cs typeface="Arimo"/>
                <a:sym typeface="Arimo"/>
              </a:rPr>
              <a:t> · ASTHMA</a:t>
            </a:r>
          </a:p>
        </p:txBody>
      </p:sp>
      <p:sp>
        <p:nvSpPr>
          <p:cNvPr name="TextBox 7" id="7"/>
          <p:cNvSpPr txBox="true"/>
          <p:nvPr/>
        </p:nvSpPr>
        <p:spPr>
          <a:xfrm rot="0">
            <a:off x="915095" y="5491258"/>
            <a:ext cx="16471659" cy="1771326"/>
          </a:xfrm>
          <a:prstGeom prst="rect">
            <a:avLst/>
          </a:prstGeom>
        </p:spPr>
        <p:txBody>
          <a:bodyPr anchor="t" rtlCol="false" tIns="0" lIns="0" bIns="0" rIns="0">
            <a:spAutoFit/>
          </a:bodyPr>
          <a:lstStyle/>
          <a:p>
            <a:pPr algn="l">
              <a:lnSpc>
                <a:spcPts val="7349"/>
              </a:lnSpc>
            </a:pPr>
            <a:r>
              <a:rPr lang="en-US" sz="7205" spc="-180">
                <a:solidFill>
                  <a:srgbClr val="141414"/>
                </a:solidFill>
                <a:latin typeface="Arimo"/>
                <a:ea typeface="Arimo"/>
                <a:cs typeface="Arimo"/>
                <a:sym typeface="Arimo"/>
              </a:rPr>
              <a:t>Asthma Exacerbation Risk Prediction Using Categorical Naive Bayes</a:t>
            </a:r>
          </a:p>
        </p:txBody>
      </p:sp>
      <p:sp>
        <p:nvSpPr>
          <p:cNvPr name="TextBox 8" id="8"/>
          <p:cNvSpPr txBox="true"/>
          <p:nvPr/>
        </p:nvSpPr>
        <p:spPr>
          <a:xfrm rot="0">
            <a:off x="915095" y="8190900"/>
            <a:ext cx="16471659" cy="472919"/>
          </a:xfrm>
          <a:prstGeom prst="rect">
            <a:avLst/>
          </a:prstGeom>
        </p:spPr>
        <p:txBody>
          <a:bodyPr anchor="t" rtlCol="false" tIns="0" lIns="0" bIns="0" rIns="0">
            <a:spAutoFit/>
          </a:bodyPr>
          <a:lstStyle/>
          <a:p>
            <a:pPr algn="l">
              <a:lnSpc>
                <a:spcPts val="3793"/>
              </a:lnSpc>
            </a:pPr>
            <a:r>
              <a:rPr lang="en-US" sz="2702">
                <a:solidFill>
                  <a:srgbClr val="141414"/>
                </a:solidFill>
                <a:latin typeface="Arimo"/>
                <a:ea typeface="Arimo"/>
                <a:cs typeface="Arimo"/>
                <a:sym typeface="Arimo"/>
              </a:rPr>
              <a:t>Exploring Asthma Exacerbation Patterns Through Predictive Classification</a:t>
            </a:r>
          </a:p>
        </p:txBody>
      </p:sp>
      <p:sp>
        <p:nvSpPr>
          <p:cNvPr name="TextBox 9" id="9"/>
          <p:cNvSpPr txBox="true"/>
          <p:nvPr/>
        </p:nvSpPr>
        <p:spPr>
          <a:xfrm rot="0">
            <a:off x="915095" y="8912895"/>
            <a:ext cx="17386744" cy="386652"/>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Durgesh Mishra · B.Sc Data Science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5095" y="868918"/>
            <a:ext cx="17386744" cy="327793"/>
          </a:xfrm>
          <a:prstGeom prst="rect">
            <a:avLst/>
          </a:prstGeom>
        </p:spPr>
        <p:txBody>
          <a:bodyPr anchor="t" rtlCol="false" tIns="0" lIns="0" bIns="0" rIns="0">
            <a:spAutoFit/>
          </a:bodyPr>
          <a:lstStyle/>
          <a:p>
            <a:pPr algn="l">
              <a:lnSpc>
                <a:spcPts val="2213"/>
              </a:lnSpc>
            </a:pPr>
            <a:r>
              <a:rPr lang="en-US" sz="1576" spc="157">
                <a:solidFill>
                  <a:srgbClr val="6B6965"/>
                </a:solidFill>
                <a:latin typeface="Arimo"/>
                <a:ea typeface="Arimo"/>
                <a:cs typeface="Arimo"/>
                <a:sym typeface="Arimo"/>
              </a:rPr>
              <a:t>RESEARCH QUESTION</a:t>
            </a:r>
          </a:p>
        </p:txBody>
      </p:sp>
      <p:sp>
        <p:nvSpPr>
          <p:cNvPr name="TextBox 3" id="3"/>
          <p:cNvSpPr txBox="true"/>
          <p:nvPr/>
        </p:nvSpPr>
        <p:spPr>
          <a:xfrm rot="0">
            <a:off x="915095" y="1412691"/>
            <a:ext cx="16471659" cy="1453725"/>
          </a:xfrm>
          <a:prstGeom prst="rect">
            <a:avLst/>
          </a:prstGeom>
        </p:spPr>
        <p:txBody>
          <a:bodyPr anchor="t" rtlCol="false" tIns="0" lIns="0" bIns="0" rIns="0">
            <a:spAutoFit/>
          </a:bodyPr>
          <a:lstStyle/>
          <a:p>
            <a:pPr algn="l">
              <a:lnSpc>
                <a:spcPts val="5836"/>
              </a:lnSpc>
            </a:pPr>
            <a:r>
              <a:rPr lang="en-US" sz="5404" spc="-81">
                <a:solidFill>
                  <a:srgbClr val="141414"/>
                </a:solidFill>
                <a:latin typeface="Arimo"/>
                <a:ea typeface="Arimo"/>
                <a:cs typeface="Arimo"/>
                <a:sym typeface="Arimo"/>
              </a:rPr>
              <a:t>Can clinical and symptom variables help flag asthma exacerbations?</a:t>
            </a:r>
          </a:p>
        </p:txBody>
      </p:sp>
      <p:sp>
        <p:nvSpPr>
          <p:cNvPr name="TextBox 4" id="4"/>
          <p:cNvSpPr txBox="true"/>
          <p:nvPr/>
        </p:nvSpPr>
        <p:spPr>
          <a:xfrm rot="0">
            <a:off x="915095" y="4413133"/>
            <a:ext cx="7892672" cy="610019"/>
          </a:xfrm>
          <a:prstGeom prst="rect">
            <a:avLst/>
          </a:prstGeom>
        </p:spPr>
        <p:txBody>
          <a:bodyPr anchor="t" rtlCol="false" tIns="0" lIns="0" bIns="0" rIns="0">
            <a:spAutoFit/>
          </a:bodyPr>
          <a:lstStyle/>
          <a:p>
            <a:pPr algn="l">
              <a:lnSpc>
                <a:spcPts val="4215"/>
              </a:lnSpc>
            </a:pPr>
            <a:r>
              <a:rPr lang="en-US" sz="3002">
                <a:solidFill>
                  <a:srgbClr val="141414"/>
                </a:solidFill>
                <a:latin typeface="Arimo"/>
                <a:ea typeface="Arimo"/>
                <a:cs typeface="Arimo"/>
                <a:sym typeface="Arimo"/>
              </a:rPr>
              <a:t>What we observe</a:t>
            </a:r>
          </a:p>
        </p:txBody>
      </p:sp>
      <p:sp>
        <p:nvSpPr>
          <p:cNvPr name="TextBox 5" id="5"/>
          <p:cNvSpPr txBox="true"/>
          <p:nvPr/>
        </p:nvSpPr>
        <p:spPr>
          <a:xfrm rot="0">
            <a:off x="915095" y="5197173"/>
            <a:ext cx="7892672" cy="1868310"/>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Asthma involves inflamed, narrowed airways. An exacerbation is a worsening of asthma symptoms.</a:t>
            </a:r>
          </a:p>
          <a:p>
            <a:pPr algn="l">
              <a:lnSpc>
                <a:spcPts val="3152"/>
              </a:lnSpc>
            </a:pPr>
            <a:r>
              <a:rPr lang="en-US" sz="2101">
                <a:solidFill>
                  <a:srgbClr val="2B2B2B"/>
                </a:solidFill>
                <a:latin typeface="Arimo"/>
                <a:ea typeface="Arimo"/>
                <a:cs typeface="Arimo"/>
                <a:sym typeface="Arimo"/>
              </a:rPr>
              <a:t>Inputs include patient characteristics, asthma-control indicators, symptoms, lung-function categories and clinical history.</a:t>
            </a:r>
          </a:p>
        </p:txBody>
      </p:sp>
      <p:sp>
        <p:nvSpPr>
          <p:cNvPr name="TextBox 6" id="6"/>
          <p:cNvSpPr txBox="true"/>
          <p:nvPr/>
        </p:nvSpPr>
        <p:spPr>
          <a:xfrm rot="0">
            <a:off x="9494082" y="4413133"/>
            <a:ext cx="7892672" cy="610019"/>
          </a:xfrm>
          <a:prstGeom prst="rect">
            <a:avLst/>
          </a:prstGeom>
        </p:spPr>
        <p:txBody>
          <a:bodyPr anchor="t" rtlCol="false" tIns="0" lIns="0" bIns="0" rIns="0">
            <a:spAutoFit/>
          </a:bodyPr>
          <a:lstStyle/>
          <a:p>
            <a:pPr algn="l">
              <a:lnSpc>
                <a:spcPts val="4215"/>
              </a:lnSpc>
            </a:pPr>
            <a:r>
              <a:rPr lang="en-US" sz="3002">
                <a:solidFill>
                  <a:srgbClr val="141414"/>
                </a:solidFill>
                <a:latin typeface="Arimo"/>
                <a:ea typeface="Arimo"/>
                <a:cs typeface="Arimo"/>
                <a:sym typeface="Arimo"/>
              </a:rPr>
              <a:t>What we classify</a:t>
            </a:r>
          </a:p>
        </p:txBody>
      </p:sp>
      <p:sp>
        <p:nvSpPr>
          <p:cNvPr name="TextBox 7" id="7"/>
          <p:cNvSpPr txBox="true"/>
          <p:nvPr/>
        </p:nvSpPr>
        <p:spPr>
          <a:xfrm rot="0">
            <a:off x="9494082" y="5159073"/>
            <a:ext cx="7892672" cy="1248670"/>
          </a:xfrm>
          <a:prstGeom prst="rect">
            <a:avLst/>
          </a:prstGeom>
        </p:spPr>
        <p:txBody>
          <a:bodyPr anchor="t" rtlCol="false" tIns="0" lIns="0" bIns="0" rIns="0">
            <a:spAutoFit/>
          </a:bodyPr>
          <a:lstStyle/>
          <a:p>
            <a:pPr algn="l">
              <a:lnSpc>
                <a:spcPts val="4503"/>
              </a:lnSpc>
            </a:pPr>
            <a:r>
              <a:rPr lang="en-US" sz="3002">
                <a:solidFill>
                  <a:srgbClr val="2563EB"/>
                </a:solidFill>
                <a:latin typeface="Arimo"/>
                <a:ea typeface="Arimo"/>
                <a:cs typeface="Arimo"/>
                <a:sym typeface="Arimo"/>
              </a:rPr>
              <a:t>Exacerbation</a:t>
            </a:r>
          </a:p>
          <a:p>
            <a:pPr algn="l">
              <a:lnSpc>
                <a:spcPts val="4503"/>
              </a:lnSpc>
            </a:pPr>
            <a:r>
              <a:rPr lang="en-US" sz="3002">
                <a:solidFill>
                  <a:srgbClr val="2B2B2B"/>
                </a:solidFill>
                <a:latin typeface="Arimo"/>
                <a:ea typeface="Arimo"/>
                <a:cs typeface="Arimo"/>
                <a:sym typeface="Arimo"/>
              </a:rPr>
              <a:t>or No Exacerbation</a:t>
            </a:r>
          </a:p>
        </p:txBody>
      </p:sp>
      <p:sp>
        <p:nvSpPr>
          <p:cNvPr name="TextBox 8" id="8"/>
          <p:cNvSpPr txBox="true"/>
          <p:nvPr/>
        </p:nvSpPr>
        <p:spPr>
          <a:xfrm rot="0">
            <a:off x="9494082" y="6541246"/>
            <a:ext cx="7892672" cy="867404"/>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“Can the available clinical and symptom-related variables help identify observations associated with asthma exacerbation?”</a:t>
            </a:r>
          </a:p>
        </p:txBody>
      </p:sp>
      <p:sp>
        <p:nvSpPr>
          <p:cNvPr name="TextBox 9" id="9"/>
          <p:cNvSpPr txBox="true"/>
          <p:nvPr/>
        </p:nvSpPr>
        <p:spPr>
          <a:xfrm rot="0">
            <a:off x="915095" y="9022652"/>
            <a:ext cx="17386744" cy="357426"/>
          </a:xfrm>
          <a:prstGeom prst="rect">
            <a:avLst/>
          </a:prstGeom>
        </p:spPr>
        <p:txBody>
          <a:bodyPr anchor="t" rtlCol="false" tIns="0" lIns="0" bIns="0" rIns="0">
            <a:spAutoFit/>
          </a:bodyPr>
          <a:lstStyle/>
          <a:p>
            <a:pPr algn="l">
              <a:lnSpc>
                <a:spcPts val="2364"/>
              </a:lnSpc>
            </a:pPr>
            <a:r>
              <a:rPr lang="en-US" sz="1576" spc="126">
                <a:solidFill>
                  <a:srgbClr val="000000"/>
                </a:solidFill>
                <a:latin typeface="Arimo"/>
                <a:ea typeface="Arimo"/>
                <a:cs typeface="Arimo"/>
                <a:sym typeface="Arimo"/>
              </a:rPr>
              <a:t>PREDICTIVE CLASSIFICATION ONLY: NO CAUSATION, NO MEDICAL ADVICE</a:t>
            </a:r>
          </a:p>
        </p:txBody>
      </p:sp>
      <p:grpSp>
        <p:nvGrpSpPr>
          <p:cNvPr name="Group 10" id="10"/>
          <p:cNvGrpSpPr/>
          <p:nvPr/>
        </p:nvGrpSpPr>
        <p:grpSpPr>
          <a:xfrm rot="0">
            <a:off x="9141390" y="4486951"/>
            <a:ext cx="19069" cy="2921698"/>
            <a:chOff x="0" y="0"/>
            <a:chExt cx="25425" cy="3895598"/>
          </a:xfrm>
        </p:grpSpPr>
        <p:sp>
          <p:nvSpPr>
            <p:cNvPr name="Freeform 11" id="11"/>
            <p:cNvSpPr/>
            <p:nvPr/>
          </p:nvSpPr>
          <p:spPr>
            <a:xfrm flipH="false" flipV="false" rot="0">
              <a:off x="0" y="0"/>
              <a:ext cx="25400" cy="3895598"/>
            </a:xfrm>
            <a:custGeom>
              <a:avLst/>
              <a:gdLst/>
              <a:ahLst/>
              <a:cxnLst/>
              <a:rect r="r" b="b" t="t" l="l"/>
              <a:pathLst>
                <a:path h="3895598" w="25400">
                  <a:moveTo>
                    <a:pt x="0" y="0"/>
                  </a:moveTo>
                  <a:lnTo>
                    <a:pt x="25400" y="0"/>
                  </a:lnTo>
                  <a:lnTo>
                    <a:pt x="25400" y="3895598"/>
                  </a:lnTo>
                  <a:lnTo>
                    <a:pt x="0" y="3895598"/>
                  </a:lnTo>
                  <a:close/>
                </a:path>
              </a:pathLst>
            </a:custGeom>
            <a:solidFill>
              <a:srgbClr val="C8C5BE"/>
            </a:solidFill>
          </p:spPr>
        </p:sp>
      </p:grpSp>
      <p:grpSp>
        <p:nvGrpSpPr>
          <p:cNvPr name="Group 12" id="12"/>
          <p:cNvGrpSpPr/>
          <p:nvPr/>
        </p:nvGrpSpPr>
        <p:grpSpPr>
          <a:xfrm rot="0">
            <a:off x="17034653" y="9687354"/>
            <a:ext cx="1267187" cy="300276"/>
            <a:chOff x="0" y="0"/>
            <a:chExt cx="1689583" cy="400368"/>
          </a:xfrm>
        </p:grpSpPr>
        <p:sp>
          <p:nvSpPr>
            <p:cNvPr name="Freeform 13" id="13"/>
            <p:cNvSpPr/>
            <p:nvPr/>
          </p:nvSpPr>
          <p:spPr>
            <a:xfrm flipH="false" flipV="false" rot="0">
              <a:off x="0" y="0"/>
              <a:ext cx="1689584" cy="400363"/>
            </a:xfrm>
            <a:custGeom>
              <a:avLst/>
              <a:gdLst/>
              <a:ahLst/>
              <a:cxnLst/>
              <a:rect r="r" b="b" t="t" l="l"/>
              <a:pathLst>
                <a:path h="400363" w="1689584">
                  <a:moveTo>
                    <a:pt x="0" y="0"/>
                  </a:moveTo>
                  <a:lnTo>
                    <a:pt x="1689584" y="0"/>
                  </a:lnTo>
                  <a:lnTo>
                    <a:pt x="1689584" y="400363"/>
                  </a:lnTo>
                  <a:lnTo>
                    <a:pt x="0" y="400363"/>
                  </a:lnTo>
                  <a:close/>
                </a:path>
              </a:pathLst>
            </a:custGeom>
            <a:blipFill>
              <a:blip r:embed="rId3">
                <a:alphaModFix amt="0"/>
              </a:blip>
              <a:stretch>
                <a:fillRect l="0" t="-32228" r="0" b="-32229"/>
              </a:stretch>
            </a:blipFill>
          </p:spPr>
        </p:sp>
        <p:sp>
          <p:nvSpPr>
            <p:cNvPr name="TextBox 14" id="14"/>
            <p:cNvSpPr txBox="true"/>
            <p:nvPr/>
          </p:nvSpPr>
          <p:spPr>
            <a:xfrm>
              <a:off x="0" y="-57150"/>
              <a:ext cx="1689583" cy="457518"/>
            </a:xfrm>
            <a:prstGeom prst="rect">
              <a:avLst/>
            </a:prstGeom>
          </p:spPr>
          <p:txBody>
            <a:bodyPr anchor="ctr" rtlCol="false" tIns="0" lIns="0" bIns="0" rIns="0"/>
            <a:lstStyle/>
            <a:p>
              <a:pPr algn="l">
                <a:lnSpc>
                  <a:spcPts val="2364"/>
                </a:lnSpc>
              </a:pPr>
              <a:r>
                <a:rPr lang="en-US" sz="1576" spc="157">
                  <a:solidFill>
                    <a:srgbClr val="6B6965"/>
                  </a:solidFill>
                  <a:latin typeface="Arimo"/>
                  <a:ea typeface="Arimo"/>
                  <a:cs typeface="Arimo"/>
                  <a:sym typeface="Arimo"/>
                </a:rPr>
                <a:t>02 / 10</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5095" y="868918"/>
            <a:ext cx="17386744" cy="327793"/>
          </a:xfrm>
          <a:prstGeom prst="rect">
            <a:avLst/>
          </a:prstGeom>
        </p:spPr>
        <p:txBody>
          <a:bodyPr anchor="t" rtlCol="false" tIns="0" lIns="0" bIns="0" rIns="0">
            <a:spAutoFit/>
          </a:bodyPr>
          <a:lstStyle/>
          <a:p>
            <a:pPr algn="l">
              <a:lnSpc>
                <a:spcPts val="2213"/>
              </a:lnSpc>
            </a:pPr>
            <a:r>
              <a:rPr lang="en-US" sz="1576" spc="157">
                <a:solidFill>
                  <a:srgbClr val="6B6965"/>
                </a:solidFill>
                <a:latin typeface="Arimo"/>
                <a:ea typeface="Arimo"/>
                <a:cs typeface="Arimo"/>
                <a:sym typeface="Arimo"/>
              </a:rPr>
              <a:t>DATASET</a:t>
            </a:r>
          </a:p>
        </p:txBody>
      </p:sp>
      <p:sp>
        <p:nvSpPr>
          <p:cNvPr name="TextBox 3" id="3"/>
          <p:cNvSpPr txBox="true"/>
          <p:nvPr/>
        </p:nvSpPr>
        <p:spPr>
          <a:xfrm rot="0">
            <a:off x="915095" y="1403823"/>
            <a:ext cx="16471659" cy="547840"/>
          </a:xfrm>
          <a:prstGeom prst="rect">
            <a:avLst/>
          </a:prstGeom>
        </p:spPr>
        <p:txBody>
          <a:bodyPr anchor="t" rtlCol="false" tIns="0" lIns="0" bIns="0" rIns="0">
            <a:spAutoFit/>
          </a:bodyPr>
          <a:lstStyle/>
          <a:p>
            <a:pPr algn="l">
              <a:lnSpc>
                <a:spcPts val="4539"/>
              </a:lnSpc>
            </a:pPr>
            <a:r>
              <a:rPr lang="en-US" sz="4203" spc="-63">
                <a:solidFill>
                  <a:srgbClr val="141414"/>
                </a:solidFill>
                <a:latin typeface="Arimo"/>
                <a:ea typeface="Arimo"/>
                <a:cs typeface="Arimo"/>
                <a:sym typeface="Arimo"/>
              </a:rPr>
              <a:t>195 observations from 65 patients, and exacerbations are rare</a:t>
            </a:r>
          </a:p>
        </p:txBody>
      </p:sp>
      <p:sp>
        <p:nvSpPr>
          <p:cNvPr name="TextBox 4" id="4"/>
          <p:cNvSpPr txBox="true"/>
          <p:nvPr/>
        </p:nvSpPr>
        <p:spPr>
          <a:xfrm rot="0">
            <a:off x="915095" y="2181644"/>
            <a:ext cx="17386744" cy="467039"/>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25 columns · no missing values · 2–4 repeated observations per patient</a:t>
            </a:r>
          </a:p>
        </p:txBody>
      </p:sp>
      <p:grpSp>
        <p:nvGrpSpPr>
          <p:cNvPr name="Group 5" id="5"/>
          <p:cNvGrpSpPr/>
          <p:nvPr/>
        </p:nvGrpSpPr>
        <p:grpSpPr>
          <a:xfrm rot="0">
            <a:off x="915095" y="2953722"/>
            <a:ext cx="16204759" cy="5052193"/>
            <a:chOff x="0" y="0"/>
            <a:chExt cx="21606345" cy="6736258"/>
          </a:xfrm>
        </p:grpSpPr>
        <p:sp>
          <p:nvSpPr>
            <p:cNvPr name="Freeform 6" id="6" descr="preencoded.png"/>
            <p:cNvSpPr/>
            <p:nvPr/>
          </p:nvSpPr>
          <p:spPr>
            <a:xfrm flipH="false" flipV="false" rot="0">
              <a:off x="0" y="0"/>
              <a:ext cx="21606383" cy="6736207"/>
            </a:xfrm>
            <a:custGeom>
              <a:avLst/>
              <a:gdLst/>
              <a:ahLst/>
              <a:cxnLst/>
              <a:rect r="r" b="b" t="t" l="l"/>
              <a:pathLst>
                <a:path h="6736207" w="21606383">
                  <a:moveTo>
                    <a:pt x="0" y="0"/>
                  </a:moveTo>
                  <a:lnTo>
                    <a:pt x="21606383" y="0"/>
                  </a:lnTo>
                  <a:lnTo>
                    <a:pt x="21606383" y="6736207"/>
                  </a:lnTo>
                  <a:lnTo>
                    <a:pt x="0" y="6736207"/>
                  </a:lnTo>
                  <a:lnTo>
                    <a:pt x="0" y="0"/>
                  </a:lnTo>
                  <a:close/>
                </a:path>
              </a:pathLst>
            </a:custGeom>
            <a:blipFill>
              <a:blip r:embed="rId3"/>
              <a:stretch>
                <a:fillRect l="0" t="-63" r="0" b="-64"/>
              </a:stretch>
            </a:blipFill>
          </p:spPr>
        </p:sp>
      </p:grpSp>
      <p:sp>
        <p:nvSpPr>
          <p:cNvPr name="TextBox 7" id="7"/>
          <p:cNvSpPr txBox="true"/>
          <p:nvPr/>
        </p:nvSpPr>
        <p:spPr>
          <a:xfrm rot="0">
            <a:off x="915095" y="8244278"/>
            <a:ext cx="17386744" cy="467039"/>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Exacerbation accounts for about 14.9%. These are not 195 independent patients.</a:t>
            </a:r>
          </a:p>
        </p:txBody>
      </p:sp>
      <p:sp>
        <p:nvSpPr>
          <p:cNvPr name="TextBox 8" id="8"/>
          <p:cNvSpPr txBox="true"/>
          <p:nvPr/>
        </p:nvSpPr>
        <p:spPr>
          <a:xfrm rot="0">
            <a:off x="915095" y="8930630"/>
            <a:ext cx="17386744" cy="443189"/>
          </a:xfrm>
          <a:prstGeom prst="rect">
            <a:avLst/>
          </a:prstGeom>
        </p:spPr>
        <p:txBody>
          <a:bodyPr anchor="t" rtlCol="false" tIns="0" lIns="0" bIns="0" rIns="0">
            <a:spAutoFit/>
          </a:bodyPr>
          <a:lstStyle/>
          <a:p>
            <a:pPr algn="l">
              <a:lnSpc>
                <a:spcPts val="2814"/>
              </a:lnSpc>
            </a:pPr>
            <a:r>
              <a:rPr lang="en-US" sz="1876">
                <a:solidFill>
                  <a:srgbClr val="2B2B2B"/>
                </a:solidFill>
                <a:latin typeface="Arimo"/>
                <a:ea typeface="Arimo"/>
                <a:cs typeface="Arimo"/>
                <a:sym typeface="Arimo"/>
              </a:rPr>
              <a:t>Notebook source: data/asthma_exacerbation_dataset.xlsx</a:t>
            </a:r>
          </a:p>
        </p:txBody>
      </p:sp>
      <p:grpSp>
        <p:nvGrpSpPr>
          <p:cNvPr name="Group 9" id="9"/>
          <p:cNvGrpSpPr/>
          <p:nvPr/>
        </p:nvGrpSpPr>
        <p:grpSpPr>
          <a:xfrm rot="0">
            <a:off x="17034653" y="9687354"/>
            <a:ext cx="1267187" cy="300276"/>
            <a:chOff x="0" y="0"/>
            <a:chExt cx="1689583" cy="400368"/>
          </a:xfrm>
        </p:grpSpPr>
        <p:sp>
          <p:nvSpPr>
            <p:cNvPr name="Freeform 10" id="10"/>
            <p:cNvSpPr/>
            <p:nvPr/>
          </p:nvSpPr>
          <p:spPr>
            <a:xfrm flipH="false" flipV="false" rot="0">
              <a:off x="0" y="0"/>
              <a:ext cx="1689584" cy="400363"/>
            </a:xfrm>
            <a:custGeom>
              <a:avLst/>
              <a:gdLst/>
              <a:ahLst/>
              <a:cxnLst/>
              <a:rect r="r" b="b" t="t" l="l"/>
              <a:pathLst>
                <a:path h="400363" w="1689584">
                  <a:moveTo>
                    <a:pt x="0" y="0"/>
                  </a:moveTo>
                  <a:lnTo>
                    <a:pt x="1689584" y="0"/>
                  </a:lnTo>
                  <a:lnTo>
                    <a:pt x="1689584" y="400363"/>
                  </a:lnTo>
                  <a:lnTo>
                    <a:pt x="0" y="400363"/>
                  </a:lnTo>
                  <a:close/>
                </a:path>
              </a:pathLst>
            </a:custGeom>
            <a:blipFill>
              <a:blip r:embed="rId4">
                <a:alphaModFix amt="0"/>
              </a:blip>
              <a:stretch>
                <a:fillRect l="0" t="-32228" r="0" b="-32229"/>
              </a:stretch>
            </a:blipFill>
          </p:spPr>
        </p:sp>
        <p:sp>
          <p:nvSpPr>
            <p:cNvPr name="TextBox 11" id="11"/>
            <p:cNvSpPr txBox="true"/>
            <p:nvPr/>
          </p:nvSpPr>
          <p:spPr>
            <a:xfrm>
              <a:off x="0" y="-57150"/>
              <a:ext cx="1689583" cy="457518"/>
            </a:xfrm>
            <a:prstGeom prst="rect">
              <a:avLst/>
            </a:prstGeom>
          </p:spPr>
          <p:txBody>
            <a:bodyPr anchor="ctr" rtlCol="false" tIns="0" lIns="0" bIns="0" rIns="0"/>
            <a:lstStyle/>
            <a:p>
              <a:pPr algn="l">
                <a:lnSpc>
                  <a:spcPts val="2364"/>
                </a:lnSpc>
              </a:pPr>
              <a:r>
                <a:rPr lang="en-US" sz="1576" spc="157">
                  <a:solidFill>
                    <a:srgbClr val="6B6965"/>
                  </a:solidFill>
                  <a:latin typeface="Arimo"/>
                  <a:ea typeface="Arimo"/>
                  <a:cs typeface="Arimo"/>
                  <a:sym typeface="Arimo"/>
                </a:rPr>
                <a:t>03 / 10</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5095" y="868918"/>
            <a:ext cx="17386744" cy="327793"/>
          </a:xfrm>
          <a:prstGeom prst="rect">
            <a:avLst/>
          </a:prstGeom>
        </p:spPr>
        <p:txBody>
          <a:bodyPr anchor="t" rtlCol="false" tIns="0" lIns="0" bIns="0" rIns="0">
            <a:spAutoFit/>
          </a:bodyPr>
          <a:lstStyle/>
          <a:p>
            <a:pPr algn="l">
              <a:lnSpc>
                <a:spcPts val="2213"/>
              </a:lnSpc>
            </a:pPr>
            <a:r>
              <a:rPr lang="en-US" sz="1576" spc="157">
                <a:solidFill>
                  <a:srgbClr val="6B6965"/>
                </a:solidFill>
                <a:latin typeface="Arimo"/>
                <a:ea typeface="Arimo"/>
                <a:cs typeface="Arimo"/>
                <a:sym typeface="Arimo"/>
              </a:rPr>
              <a:t>PREPROCESSING</a:t>
            </a:r>
          </a:p>
        </p:txBody>
      </p:sp>
      <p:sp>
        <p:nvSpPr>
          <p:cNvPr name="TextBox 3" id="3"/>
          <p:cNvSpPr txBox="true"/>
          <p:nvPr/>
        </p:nvSpPr>
        <p:spPr>
          <a:xfrm rot="0">
            <a:off x="915095" y="1403823"/>
            <a:ext cx="16471659" cy="547840"/>
          </a:xfrm>
          <a:prstGeom prst="rect">
            <a:avLst/>
          </a:prstGeom>
        </p:spPr>
        <p:txBody>
          <a:bodyPr anchor="t" rtlCol="false" tIns="0" lIns="0" bIns="0" rIns="0">
            <a:spAutoFit/>
          </a:bodyPr>
          <a:lstStyle/>
          <a:p>
            <a:pPr algn="l">
              <a:lnSpc>
                <a:spcPts val="4539"/>
              </a:lnSpc>
            </a:pPr>
            <a:r>
              <a:rPr lang="en-US" sz="4203" spc="-63">
                <a:solidFill>
                  <a:srgbClr val="141414"/>
                </a:solidFill>
                <a:latin typeface="Arimo"/>
                <a:ea typeface="Arimo"/>
                <a:cs typeface="Arimo"/>
                <a:sym typeface="Arimo"/>
              </a:rPr>
              <a:t>From raw columns to model-ready data</a:t>
            </a:r>
          </a:p>
        </p:txBody>
      </p:sp>
      <p:sp>
        <p:nvSpPr>
          <p:cNvPr name="TextBox 4" id="4"/>
          <p:cNvSpPr txBox="true"/>
          <p:nvPr/>
        </p:nvSpPr>
        <p:spPr>
          <a:xfrm rot="0">
            <a:off x="915095" y="2991822"/>
            <a:ext cx="1214161" cy="228810"/>
          </a:xfrm>
          <a:prstGeom prst="rect">
            <a:avLst/>
          </a:prstGeom>
        </p:spPr>
        <p:txBody>
          <a:bodyPr anchor="t" rtlCol="false" tIns="0" lIns="0" bIns="0" rIns="0">
            <a:spAutoFit/>
          </a:bodyPr>
          <a:lstStyle/>
          <a:p>
            <a:pPr algn="l">
              <a:lnSpc>
                <a:spcPts val="2093"/>
              </a:lnSpc>
            </a:pPr>
            <a:r>
              <a:rPr lang="en-US" sz="2101">
                <a:solidFill>
                  <a:srgbClr val="141414"/>
                </a:solidFill>
                <a:latin typeface="Arimo"/>
                <a:ea typeface="Arimo"/>
                <a:cs typeface="Arimo"/>
                <a:sym typeface="Arimo"/>
              </a:rPr>
              <a:t>01</a:t>
            </a:r>
          </a:p>
        </p:txBody>
      </p:sp>
      <p:grpSp>
        <p:nvGrpSpPr>
          <p:cNvPr name="Group 5" id="5"/>
          <p:cNvGrpSpPr/>
          <p:nvPr/>
        </p:nvGrpSpPr>
        <p:grpSpPr>
          <a:xfrm rot="0">
            <a:off x="915095" y="3327416"/>
            <a:ext cx="3111227" cy="28594"/>
            <a:chOff x="0" y="0"/>
            <a:chExt cx="4148303" cy="38125"/>
          </a:xfrm>
        </p:grpSpPr>
        <p:sp>
          <p:nvSpPr>
            <p:cNvPr name="Freeform 6" id="6"/>
            <p:cNvSpPr/>
            <p:nvPr/>
          </p:nvSpPr>
          <p:spPr>
            <a:xfrm flipH="false" flipV="false" rot="0">
              <a:off x="0" y="0"/>
              <a:ext cx="4148328" cy="38100"/>
            </a:xfrm>
            <a:custGeom>
              <a:avLst/>
              <a:gdLst/>
              <a:ahLst/>
              <a:cxnLst/>
              <a:rect r="r" b="b" t="t" l="l"/>
              <a:pathLst>
                <a:path h="38100" w="4148328">
                  <a:moveTo>
                    <a:pt x="0" y="0"/>
                  </a:moveTo>
                  <a:lnTo>
                    <a:pt x="4148328" y="0"/>
                  </a:lnTo>
                  <a:lnTo>
                    <a:pt x="4148328" y="38100"/>
                  </a:lnTo>
                  <a:lnTo>
                    <a:pt x="0" y="38100"/>
                  </a:lnTo>
                  <a:close/>
                </a:path>
              </a:pathLst>
            </a:custGeom>
            <a:solidFill>
              <a:srgbClr val="2563EB"/>
            </a:solidFill>
          </p:spPr>
        </p:sp>
      </p:grpSp>
      <p:sp>
        <p:nvSpPr>
          <p:cNvPr name="TextBox 7" id="7"/>
          <p:cNvSpPr txBox="true"/>
          <p:nvPr/>
        </p:nvSpPr>
        <p:spPr>
          <a:xfrm rot="0">
            <a:off x="915095" y="3458985"/>
            <a:ext cx="3111370" cy="457514"/>
          </a:xfrm>
          <a:prstGeom prst="rect">
            <a:avLst/>
          </a:prstGeom>
        </p:spPr>
        <p:txBody>
          <a:bodyPr anchor="t" rtlCol="false" tIns="0" lIns="0" bIns="0" rIns="0">
            <a:spAutoFit/>
          </a:bodyPr>
          <a:lstStyle/>
          <a:p>
            <a:pPr algn="l">
              <a:lnSpc>
                <a:spcPts val="3161"/>
              </a:lnSpc>
            </a:pPr>
            <a:r>
              <a:rPr lang="en-US" sz="2251">
                <a:solidFill>
                  <a:srgbClr val="141414"/>
                </a:solidFill>
                <a:latin typeface="Arimo"/>
                <a:ea typeface="Arimo"/>
                <a:cs typeface="Arimo"/>
                <a:sym typeface="Arimo"/>
              </a:rPr>
              <a:t>Dataset</a:t>
            </a:r>
          </a:p>
        </p:txBody>
      </p:sp>
      <p:sp>
        <p:nvSpPr>
          <p:cNvPr name="TextBox 8" id="8"/>
          <p:cNvSpPr txBox="true"/>
          <p:nvPr/>
        </p:nvSpPr>
        <p:spPr>
          <a:xfrm rot="0">
            <a:off x="915095" y="4092902"/>
            <a:ext cx="3111370" cy="467039"/>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195 observations</a:t>
            </a:r>
          </a:p>
        </p:txBody>
      </p:sp>
      <p:sp>
        <p:nvSpPr>
          <p:cNvPr name="TextBox 9" id="9"/>
          <p:cNvSpPr txBox="true"/>
          <p:nvPr/>
        </p:nvSpPr>
        <p:spPr>
          <a:xfrm rot="0">
            <a:off x="4255094" y="2991822"/>
            <a:ext cx="1214161" cy="228810"/>
          </a:xfrm>
          <a:prstGeom prst="rect">
            <a:avLst/>
          </a:prstGeom>
        </p:spPr>
        <p:txBody>
          <a:bodyPr anchor="t" rtlCol="false" tIns="0" lIns="0" bIns="0" rIns="0">
            <a:spAutoFit/>
          </a:bodyPr>
          <a:lstStyle/>
          <a:p>
            <a:pPr algn="l">
              <a:lnSpc>
                <a:spcPts val="2093"/>
              </a:lnSpc>
            </a:pPr>
            <a:r>
              <a:rPr lang="en-US" sz="2101">
                <a:solidFill>
                  <a:srgbClr val="141414"/>
                </a:solidFill>
                <a:latin typeface="Arimo"/>
                <a:ea typeface="Arimo"/>
                <a:cs typeface="Arimo"/>
                <a:sym typeface="Arimo"/>
              </a:rPr>
              <a:t>02</a:t>
            </a:r>
          </a:p>
        </p:txBody>
      </p:sp>
      <p:grpSp>
        <p:nvGrpSpPr>
          <p:cNvPr name="Group 10" id="10"/>
          <p:cNvGrpSpPr/>
          <p:nvPr/>
        </p:nvGrpSpPr>
        <p:grpSpPr>
          <a:xfrm rot="0">
            <a:off x="4255094" y="3327416"/>
            <a:ext cx="3111227" cy="28594"/>
            <a:chOff x="0" y="0"/>
            <a:chExt cx="4148303" cy="38125"/>
          </a:xfrm>
        </p:grpSpPr>
        <p:sp>
          <p:nvSpPr>
            <p:cNvPr name="Freeform 11" id="11"/>
            <p:cNvSpPr/>
            <p:nvPr/>
          </p:nvSpPr>
          <p:spPr>
            <a:xfrm flipH="false" flipV="false" rot="0">
              <a:off x="0" y="0"/>
              <a:ext cx="4148328" cy="38100"/>
            </a:xfrm>
            <a:custGeom>
              <a:avLst/>
              <a:gdLst/>
              <a:ahLst/>
              <a:cxnLst/>
              <a:rect r="r" b="b" t="t" l="l"/>
              <a:pathLst>
                <a:path h="38100" w="4148328">
                  <a:moveTo>
                    <a:pt x="0" y="0"/>
                  </a:moveTo>
                  <a:lnTo>
                    <a:pt x="4148328" y="0"/>
                  </a:lnTo>
                  <a:lnTo>
                    <a:pt x="4148328" y="38100"/>
                  </a:lnTo>
                  <a:lnTo>
                    <a:pt x="0" y="38100"/>
                  </a:lnTo>
                  <a:close/>
                </a:path>
              </a:pathLst>
            </a:custGeom>
            <a:solidFill>
              <a:srgbClr val="2563EB"/>
            </a:solidFill>
          </p:spPr>
        </p:sp>
      </p:grpSp>
      <p:sp>
        <p:nvSpPr>
          <p:cNvPr name="TextBox 12" id="12"/>
          <p:cNvSpPr txBox="true"/>
          <p:nvPr/>
        </p:nvSpPr>
        <p:spPr>
          <a:xfrm rot="0">
            <a:off x="4255094" y="3458985"/>
            <a:ext cx="3111370" cy="457514"/>
          </a:xfrm>
          <a:prstGeom prst="rect">
            <a:avLst/>
          </a:prstGeom>
        </p:spPr>
        <p:txBody>
          <a:bodyPr anchor="t" rtlCol="false" tIns="0" lIns="0" bIns="0" rIns="0">
            <a:spAutoFit/>
          </a:bodyPr>
          <a:lstStyle/>
          <a:p>
            <a:pPr algn="l">
              <a:lnSpc>
                <a:spcPts val="3161"/>
              </a:lnSpc>
            </a:pPr>
            <a:r>
              <a:rPr lang="en-US" sz="2251">
                <a:solidFill>
                  <a:srgbClr val="141414"/>
                </a:solidFill>
                <a:latin typeface="Arimo"/>
                <a:ea typeface="Arimo"/>
                <a:cs typeface="Arimo"/>
                <a:sym typeface="Arimo"/>
              </a:rPr>
              <a:t>Exploration</a:t>
            </a:r>
          </a:p>
        </p:txBody>
      </p:sp>
      <p:sp>
        <p:nvSpPr>
          <p:cNvPr name="TextBox 13" id="13"/>
          <p:cNvSpPr txBox="true"/>
          <p:nvPr/>
        </p:nvSpPr>
        <p:spPr>
          <a:xfrm rot="0">
            <a:off x="4255094" y="4092902"/>
            <a:ext cx="3111370" cy="467039"/>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Types and balance</a:t>
            </a:r>
          </a:p>
        </p:txBody>
      </p:sp>
      <p:sp>
        <p:nvSpPr>
          <p:cNvPr name="TextBox 14" id="14"/>
          <p:cNvSpPr txBox="true"/>
          <p:nvPr/>
        </p:nvSpPr>
        <p:spPr>
          <a:xfrm rot="0">
            <a:off x="7595083" y="2991822"/>
            <a:ext cx="1214161" cy="228810"/>
          </a:xfrm>
          <a:prstGeom prst="rect">
            <a:avLst/>
          </a:prstGeom>
        </p:spPr>
        <p:txBody>
          <a:bodyPr anchor="t" rtlCol="false" tIns="0" lIns="0" bIns="0" rIns="0">
            <a:spAutoFit/>
          </a:bodyPr>
          <a:lstStyle/>
          <a:p>
            <a:pPr algn="l">
              <a:lnSpc>
                <a:spcPts val="2093"/>
              </a:lnSpc>
            </a:pPr>
            <a:r>
              <a:rPr lang="en-US" sz="2101">
                <a:solidFill>
                  <a:srgbClr val="141414"/>
                </a:solidFill>
                <a:latin typeface="Arimo"/>
                <a:ea typeface="Arimo"/>
                <a:cs typeface="Arimo"/>
                <a:sym typeface="Arimo"/>
              </a:rPr>
              <a:t>03</a:t>
            </a:r>
          </a:p>
        </p:txBody>
      </p:sp>
      <p:grpSp>
        <p:nvGrpSpPr>
          <p:cNvPr name="Group 15" id="15"/>
          <p:cNvGrpSpPr/>
          <p:nvPr/>
        </p:nvGrpSpPr>
        <p:grpSpPr>
          <a:xfrm rot="0">
            <a:off x="7595083" y="3327416"/>
            <a:ext cx="3111522" cy="28594"/>
            <a:chOff x="0" y="0"/>
            <a:chExt cx="4148696" cy="38125"/>
          </a:xfrm>
        </p:grpSpPr>
        <p:sp>
          <p:nvSpPr>
            <p:cNvPr name="Freeform 16" id="16"/>
            <p:cNvSpPr/>
            <p:nvPr/>
          </p:nvSpPr>
          <p:spPr>
            <a:xfrm flipH="false" flipV="false" rot="0">
              <a:off x="0" y="0"/>
              <a:ext cx="4148709" cy="38100"/>
            </a:xfrm>
            <a:custGeom>
              <a:avLst/>
              <a:gdLst/>
              <a:ahLst/>
              <a:cxnLst/>
              <a:rect r="r" b="b" t="t" l="l"/>
              <a:pathLst>
                <a:path h="38100" w="4148709">
                  <a:moveTo>
                    <a:pt x="0" y="0"/>
                  </a:moveTo>
                  <a:lnTo>
                    <a:pt x="4148709" y="0"/>
                  </a:lnTo>
                  <a:lnTo>
                    <a:pt x="4148709" y="38100"/>
                  </a:lnTo>
                  <a:lnTo>
                    <a:pt x="0" y="38100"/>
                  </a:lnTo>
                  <a:close/>
                </a:path>
              </a:pathLst>
            </a:custGeom>
            <a:solidFill>
              <a:srgbClr val="2563EB"/>
            </a:solidFill>
          </p:spPr>
        </p:sp>
      </p:grpSp>
      <p:sp>
        <p:nvSpPr>
          <p:cNvPr name="TextBox 17" id="17"/>
          <p:cNvSpPr txBox="true"/>
          <p:nvPr/>
        </p:nvSpPr>
        <p:spPr>
          <a:xfrm rot="0">
            <a:off x="7595083" y="3458985"/>
            <a:ext cx="3111522" cy="457514"/>
          </a:xfrm>
          <a:prstGeom prst="rect">
            <a:avLst/>
          </a:prstGeom>
        </p:spPr>
        <p:txBody>
          <a:bodyPr anchor="t" rtlCol="false" tIns="0" lIns="0" bIns="0" rIns="0">
            <a:spAutoFit/>
          </a:bodyPr>
          <a:lstStyle/>
          <a:p>
            <a:pPr algn="l">
              <a:lnSpc>
                <a:spcPts val="3161"/>
              </a:lnSpc>
            </a:pPr>
            <a:r>
              <a:rPr lang="en-US" sz="2251">
                <a:solidFill>
                  <a:srgbClr val="141414"/>
                </a:solidFill>
                <a:latin typeface="Arimo"/>
                <a:ea typeface="Arimo"/>
                <a:cs typeface="Arimo"/>
                <a:sym typeface="Arimo"/>
              </a:rPr>
              <a:t>Feature selection</a:t>
            </a:r>
          </a:p>
        </p:txBody>
      </p:sp>
      <p:sp>
        <p:nvSpPr>
          <p:cNvPr name="TextBox 18" id="18"/>
          <p:cNvSpPr txBox="true"/>
          <p:nvPr/>
        </p:nvSpPr>
        <p:spPr>
          <a:xfrm rot="0">
            <a:off x="7595083" y="4092902"/>
            <a:ext cx="3111522" cy="467039"/>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22 predictors</a:t>
            </a:r>
          </a:p>
        </p:txBody>
      </p:sp>
      <p:sp>
        <p:nvSpPr>
          <p:cNvPr name="TextBox 19" id="19"/>
          <p:cNvSpPr txBox="true"/>
          <p:nvPr/>
        </p:nvSpPr>
        <p:spPr>
          <a:xfrm rot="0">
            <a:off x="10935233" y="2991822"/>
            <a:ext cx="1214161" cy="228810"/>
          </a:xfrm>
          <a:prstGeom prst="rect">
            <a:avLst/>
          </a:prstGeom>
        </p:spPr>
        <p:txBody>
          <a:bodyPr anchor="t" rtlCol="false" tIns="0" lIns="0" bIns="0" rIns="0">
            <a:spAutoFit/>
          </a:bodyPr>
          <a:lstStyle/>
          <a:p>
            <a:pPr algn="l">
              <a:lnSpc>
                <a:spcPts val="2093"/>
              </a:lnSpc>
            </a:pPr>
            <a:r>
              <a:rPr lang="en-US" sz="2101">
                <a:solidFill>
                  <a:srgbClr val="141414"/>
                </a:solidFill>
                <a:latin typeface="Arimo"/>
                <a:ea typeface="Arimo"/>
                <a:cs typeface="Arimo"/>
                <a:sym typeface="Arimo"/>
              </a:rPr>
              <a:t>04</a:t>
            </a:r>
          </a:p>
        </p:txBody>
      </p:sp>
      <p:grpSp>
        <p:nvGrpSpPr>
          <p:cNvPr name="Group 20" id="20"/>
          <p:cNvGrpSpPr/>
          <p:nvPr/>
        </p:nvGrpSpPr>
        <p:grpSpPr>
          <a:xfrm rot="0">
            <a:off x="10935233" y="3327416"/>
            <a:ext cx="3111227" cy="28594"/>
            <a:chOff x="0" y="0"/>
            <a:chExt cx="4148303" cy="38125"/>
          </a:xfrm>
        </p:grpSpPr>
        <p:sp>
          <p:nvSpPr>
            <p:cNvPr name="Freeform 21" id="21"/>
            <p:cNvSpPr/>
            <p:nvPr/>
          </p:nvSpPr>
          <p:spPr>
            <a:xfrm flipH="false" flipV="false" rot="0">
              <a:off x="0" y="0"/>
              <a:ext cx="4148328" cy="38100"/>
            </a:xfrm>
            <a:custGeom>
              <a:avLst/>
              <a:gdLst/>
              <a:ahLst/>
              <a:cxnLst/>
              <a:rect r="r" b="b" t="t" l="l"/>
              <a:pathLst>
                <a:path h="38100" w="4148328">
                  <a:moveTo>
                    <a:pt x="0" y="0"/>
                  </a:moveTo>
                  <a:lnTo>
                    <a:pt x="4148328" y="0"/>
                  </a:lnTo>
                  <a:lnTo>
                    <a:pt x="4148328" y="38100"/>
                  </a:lnTo>
                  <a:lnTo>
                    <a:pt x="0" y="38100"/>
                  </a:lnTo>
                  <a:close/>
                </a:path>
              </a:pathLst>
            </a:custGeom>
            <a:solidFill>
              <a:srgbClr val="2563EB"/>
            </a:solidFill>
          </p:spPr>
        </p:sp>
      </p:grpSp>
      <p:sp>
        <p:nvSpPr>
          <p:cNvPr name="TextBox 22" id="22"/>
          <p:cNvSpPr txBox="true"/>
          <p:nvPr/>
        </p:nvSpPr>
        <p:spPr>
          <a:xfrm rot="0">
            <a:off x="10935233" y="3458985"/>
            <a:ext cx="3111370" cy="457514"/>
          </a:xfrm>
          <a:prstGeom prst="rect">
            <a:avLst/>
          </a:prstGeom>
        </p:spPr>
        <p:txBody>
          <a:bodyPr anchor="t" rtlCol="false" tIns="0" lIns="0" bIns="0" rIns="0">
            <a:spAutoFit/>
          </a:bodyPr>
          <a:lstStyle/>
          <a:p>
            <a:pPr algn="l">
              <a:lnSpc>
                <a:spcPts val="3161"/>
              </a:lnSpc>
            </a:pPr>
            <a:r>
              <a:rPr lang="en-US" sz="2251">
                <a:solidFill>
                  <a:srgbClr val="141414"/>
                </a:solidFill>
                <a:latin typeface="Arimo"/>
                <a:ea typeface="Arimo"/>
                <a:cs typeface="Arimo"/>
                <a:sym typeface="Arimo"/>
              </a:rPr>
              <a:t>Encoding</a:t>
            </a:r>
          </a:p>
        </p:txBody>
      </p:sp>
      <p:sp>
        <p:nvSpPr>
          <p:cNvPr name="TextBox 23" id="23"/>
          <p:cNvSpPr txBox="true"/>
          <p:nvPr/>
        </p:nvSpPr>
        <p:spPr>
          <a:xfrm rot="0">
            <a:off x="10935233" y="4092902"/>
            <a:ext cx="3111370" cy="467039"/>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Category indices</a:t>
            </a:r>
          </a:p>
        </p:txBody>
      </p:sp>
      <p:sp>
        <p:nvSpPr>
          <p:cNvPr name="TextBox 24" id="24"/>
          <p:cNvSpPr txBox="true"/>
          <p:nvPr/>
        </p:nvSpPr>
        <p:spPr>
          <a:xfrm rot="0">
            <a:off x="14275222" y="2991822"/>
            <a:ext cx="1214161" cy="228810"/>
          </a:xfrm>
          <a:prstGeom prst="rect">
            <a:avLst/>
          </a:prstGeom>
        </p:spPr>
        <p:txBody>
          <a:bodyPr anchor="t" rtlCol="false" tIns="0" lIns="0" bIns="0" rIns="0">
            <a:spAutoFit/>
          </a:bodyPr>
          <a:lstStyle/>
          <a:p>
            <a:pPr algn="l">
              <a:lnSpc>
                <a:spcPts val="2093"/>
              </a:lnSpc>
            </a:pPr>
            <a:r>
              <a:rPr lang="en-US" sz="2101">
                <a:solidFill>
                  <a:srgbClr val="141414"/>
                </a:solidFill>
                <a:latin typeface="Arimo"/>
                <a:ea typeface="Arimo"/>
                <a:cs typeface="Arimo"/>
                <a:sym typeface="Arimo"/>
              </a:rPr>
              <a:t>05</a:t>
            </a:r>
          </a:p>
        </p:txBody>
      </p:sp>
      <p:grpSp>
        <p:nvGrpSpPr>
          <p:cNvPr name="Group 25" id="25"/>
          <p:cNvGrpSpPr/>
          <p:nvPr/>
        </p:nvGrpSpPr>
        <p:grpSpPr>
          <a:xfrm rot="0">
            <a:off x="14275222" y="3327416"/>
            <a:ext cx="3111522" cy="28594"/>
            <a:chOff x="0" y="0"/>
            <a:chExt cx="4148696" cy="38125"/>
          </a:xfrm>
        </p:grpSpPr>
        <p:sp>
          <p:nvSpPr>
            <p:cNvPr name="Freeform 26" id="26"/>
            <p:cNvSpPr/>
            <p:nvPr/>
          </p:nvSpPr>
          <p:spPr>
            <a:xfrm flipH="false" flipV="false" rot="0">
              <a:off x="0" y="0"/>
              <a:ext cx="4148709" cy="38100"/>
            </a:xfrm>
            <a:custGeom>
              <a:avLst/>
              <a:gdLst/>
              <a:ahLst/>
              <a:cxnLst/>
              <a:rect r="r" b="b" t="t" l="l"/>
              <a:pathLst>
                <a:path h="38100" w="4148709">
                  <a:moveTo>
                    <a:pt x="0" y="0"/>
                  </a:moveTo>
                  <a:lnTo>
                    <a:pt x="4148709" y="0"/>
                  </a:lnTo>
                  <a:lnTo>
                    <a:pt x="4148709" y="38100"/>
                  </a:lnTo>
                  <a:lnTo>
                    <a:pt x="0" y="38100"/>
                  </a:lnTo>
                  <a:close/>
                </a:path>
              </a:pathLst>
            </a:custGeom>
            <a:solidFill>
              <a:srgbClr val="2563EB"/>
            </a:solidFill>
          </p:spPr>
        </p:sp>
      </p:grpSp>
      <p:sp>
        <p:nvSpPr>
          <p:cNvPr name="TextBox 27" id="27"/>
          <p:cNvSpPr txBox="true"/>
          <p:nvPr/>
        </p:nvSpPr>
        <p:spPr>
          <a:xfrm rot="0">
            <a:off x="14275222" y="3458985"/>
            <a:ext cx="3111522" cy="457514"/>
          </a:xfrm>
          <a:prstGeom prst="rect">
            <a:avLst/>
          </a:prstGeom>
        </p:spPr>
        <p:txBody>
          <a:bodyPr anchor="t" rtlCol="false" tIns="0" lIns="0" bIns="0" rIns="0">
            <a:spAutoFit/>
          </a:bodyPr>
          <a:lstStyle/>
          <a:p>
            <a:pPr algn="l">
              <a:lnSpc>
                <a:spcPts val="3161"/>
              </a:lnSpc>
            </a:pPr>
            <a:r>
              <a:rPr lang="en-US" sz="2251">
                <a:solidFill>
                  <a:srgbClr val="141414"/>
                </a:solidFill>
                <a:latin typeface="Arimo"/>
                <a:ea typeface="Arimo"/>
                <a:cs typeface="Arimo"/>
                <a:sym typeface="Arimo"/>
              </a:rPr>
              <a:t>Train/test split</a:t>
            </a:r>
          </a:p>
        </p:txBody>
      </p:sp>
      <p:sp>
        <p:nvSpPr>
          <p:cNvPr name="TextBox 28" id="28"/>
          <p:cNvSpPr txBox="true"/>
          <p:nvPr/>
        </p:nvSpPr>
        <p:spPr>
          <a:xfrm rot="0">
            <a:off x="14275222" y="4092902"/>
            <a:ext cx="3111522" cy="467039"/>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By patient ID</a:t>
            </a:r>
          </a:p>
        </p:txBody>
      </p:sp>
      <p:sp>
        <p:nvSpPr>
          <p:cNvPr name="TextBox 29" id="29"/>
          <p:cNvSpPr txBox="true"/>
          <p:nvPr/>
        </p:nvSpPr>
        <p:spPr>
          <a:xfrm rot="0">
            <a:off x="915095" y="6113774"/>
            <a:ext cx="7892672" cy="457514"/>
          </a:xfrm>
          <a:prstGeom prst="rect">
            <a:avLst/>
          </a:prstGeom>
        </p:spPr>
        <p:txBody>
          <a:bodyPr anchor="t" rtlCol="false" tIns="0" lIns="0" bIns="0" rIns="0">
            <a:spAutoFit/>
          </a:bodyPr>
          <a:lstStyle/>
          <a:p>
            <a:pPr algn="l">
              <a:lnSpc>
                <a:spcPts val="3161"/>
              </a:lnSpc>
            </a:pPr>
            <a:r>
              <a:rPr lang="en-US" sz="2251">
                <a:solidFill>
                  <a:srgbClr val="141414"/>
                </a:solidFill>
                <a:latin typeface="Arimo"/>
                <a:ea typeface="Arimo"/>
                <a:cs typeface="Arimo"/>
                <a:sym typeface="Arimo"/>
              </a:rPr>
              <a:t>Explore and exclude</a:t>
            </a:r>
          </a:p>
        </p:txBody>
      </p:sp>
      <p:sp>
        <p:nvSpPr>
          <p:cNvPr name="TextBox 30" id="30"/>
          <p:cNvSpPr txBox="true"/>
          <p:nvPr/>
        </p:nvSpPr>
        <p:spPr>
          <a:xfrm rot="0">
            <a:off x="915095" y="6747681"/>
            <a:ext cx="7892672" cy="1868310"/>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Checked unique values, duplicates (none) and each variable against the outcome.</a:t>
            </a:r>
          </a:p>
          <a:p>
            <a:pPr algn="l">
              <a:lnSpc>
                <a:spcPts val="3152"/>
              </a:lnSpc>
            </a:pPr>
            <a:r>
              <a:rPr lang="en-US" sz="2101">
                <a:solidFill>
                  <a:srgbClr val="2B2B2B"/>
                </a:solidFill>
                <a:latin typeface="Arimo"/>
                <a:ea typeface="Arimo"/>
                <a:cs typeface="Arimo"/>
                <a:sym typeface="Arimo"/>
              </a:rPr>
              <a:t>Excluded id, a patient identifier, and t, observation time. The 4th time point had only 12 observations and no exacerbations.</a:t>
            </a:r>
          </a:p>
        </p:txBody>
      </p:sp>
      <p:sp>
        <p:nvSpPr>
          <p:cNvPr name="TextBox 31" id="31"/>
          <p:cNvSpPr txBox="true"/>
          <p:nvPr/>
        </p:nvSpPr>
        <p:spPr>
          <a:xfrm rot="0">
            <a:off x="9494082" y="6113774"/>
            <a:ext cx="7892672" cy="457514"/>
          </a:xfrm>
          <a:prstGeom prst="rect">
            <a:avLst/>
          </a:prstGeom>
        </p:spPr>
        <p:txBody>
          <a:bodyPr anchor="t" rtlCol="false" tIns="0" lIns="0" bIns="0" rIns="0">
            <a:spAutoFit/>
          </a:bodyPr>
          <a:lstStyle/>
          <a:p>
            <a:pPr algn="l">
              <a:lnSpc>
                <a:spcPts val="3161"/>
              </a:lnSpc>
            </a:pPr>
            <a:r>
              <a:rPr lang="en-US" sz="2251">
                <a:solidFill>
                  <a:srgbClr val="141414"/>
                </a:solidFill>
                <a:latin typeface="Arimo"/>
                <a:ea typeface="Arimo"/>
                <a:cs typeface="Arimo"/>
                <a:sym typeface="Arimo"/>
              </a:rPr>
              <a:t>Encode categories</a:t>
            </a:r>
          </a:p>
        </p:txBody>
      </p:sp>
      <p:sp>
        <p:nvSpPr>
          <p:cNvPr name="TextBox 32" id="32"/>
          <p:cNvSpPr txBox="true"/>
          <p:nvPr/>
        </p:nvSpPr>
        <p:spPr>
          <a:xfrm rot="0">
            <a:off x="9494082" y="6747681"/>
            <a:ext cx="7892672" cy="1467945"/>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OrdinalEncoder for predictors; LabelEncoder for the target. Unseen test categories received a new valid category index.</a:t>
            </a:r>
          </a:p>
          <a:p>
            <a:pPr algn="l">
              <a:lnSpc>
                <a:spcPts val="3152"/>
              </a:lnSpc>
            </a:pPr>
            <a:r>
              <a:rPr lang="en-US" sz="2101">
                <a:solidFill>
                  <a:srgbClr val="2B2B2B"/>
                </a:solidFill>
                <a:latin typeface="Arimo"/>
                <a:ea typeface="Arimo"/>
                <a:cs typeface="Arimo"/>
                <a:sym typeface="Arimo"/>
              </a:rPr>
              <a:t>Ath is a count variable (0–11).</a:t>
            </a:r>
          </a:p>
        </p:txBody>
      </p:sp>
      <p:grpSp>
        <p:nvGrpSpPr>
          <p:cNvPr name="Group 33" id="33"/>
          <p:cNvGrpSpPr/>
          <p:nvPr/>
        </p:nvGrpSpPr>
        <p:grpSpPr>
          <a:xfrm rot="0">
            <a:off x="9141390" y="4864970"/>
            <a:ext cx="19069" cy="3908308"/>
            <a:chOff x="0" y="0"/>
            <a:chExt cx="25425" cy="5211077"/>
          </a:xfrm>
        </p:grpSpPr>
        <p:sp>
          <p:nvSpPr>
            <p:cNvPr name="Freeform 34" id="34"/>
            <p:cNvSpPr/>
            <p:nvPr/>
          </p:nvSpPr>
          <p:spPr>
            <a:xfrm flipH="false" flipV="false" rot="0">
              <a:off x="0" y="0"/>
              <a:ext cx="25400" cy="5211064"/>
            </a:xfrm>
            <a:custGeom>
              <a:avLst/>
              <a:gdLst/>
              <a:ahLst/>
              <a:cxnLst/>
              <a:rect r="r" b="b" t="t" l="l"/>
              <a:pathLst>
                <a:path h="5211064" w="25400">
                  <a:moveTo>
                    <a:pt x="0" y="0"/>
                  </a:moveTo>
                  <a:lnTo>
                    <a:pt x="25400" y="0"/>
                  </a:lnTo>
                  <a:lnTo>
                    <a:pt x="25400" y="5211064"/>
                  </a:lnTo>
                  <a:lnTo>
                    <a:pt x="0" y="5211064"/>
                  </a:lnTo>
                  <a:close/>
                </a:path>
              </a:pathLst>
            </a:custGeom>
            <a:solidFill>
              <a:srgbClr val="C8C5BE"/>
            </a:solidFill>
          </p:spPr>
        </p:sp>
      </p:grpSp>
      <p:grpSp>
        <p:nvGrpSpPr>
          <p:cNvPr name="Group 35" id="35"/>
          <p:cNvGrpSpPr/>
          <p:nvPr/>
        </p:nvGrpSpPr>
        <p:grpSpPr>
          <a:xfrm rot="0">
            <a:off x="17034653" y="9687354"/>
            <a:ext cx="1267187" cy="300276"/>
            <a:chOff x="0" y="0"/>
            <a:chExt cx="1689583" cy="400368"/>
          </a:xfrm>
        </p:grpSpPr>
        <p:sp>
          <p:nvSpPr>
            <p:cNvPr name="Freeform 36" id="36"/>
            <p:cNvSpPr/>
            <p:nvPr/>
          </p:nvSpPr>
          <p:spPr>
            <a:xfrm flipH="false" flipV="false" rot="0">
              <a:off x="0" y="0"/>
              <a:ext cx="1689584" cy="400363"/>
            </a:xfrm>
            <a:custGeom>
              <a:avLst/>
              <a:gdLst/>
              <a:ahLst/>
              <a:cxnLst/>
              <a:rect r="r" b="b" t="t" l="l"/>
              <a:pathLst>
                <a:path h="400363" w="1689584">
                  <a:moveTo>
                    <a:pt x="0" y="0"/>
                  </a:moveTo>
                  <a:lnTo>
                    <a:pt x="1689584" y="0"/>
                  </a:lnTo>
                  <a:lnTo>
                    <a:pt x="1689584" y="400363"/>
                  </a:lnTo>
                  <a:lnTo>
                    <a:pt x="0" y="400363"/>
                  </a:lnTo>
                  <a:close/>
                </a:path>
              </a:pathLst>
            </a:custGeom>
            <a:blipFill>
              <a:blip r:embed="rId3">
                <a:alphaModFix amt="0"/>
              </a:blip>
              <a:stretch>
                <a:fillRect l="0" t="-32228" r="0" b="-32229"/>
              </a:stretch>
            </a:blipFill>
          </p:spPr>
        </p:sp>
        <p:sp>
          <p:nvSpPr>
            <p:cNvPr name="TextBox 37" id="37"/>
            <p:cNvSpPr txBox="true"/>
            <p:nvPr/>
          </p:nvSpPr>
          <p:spPr>
            <a:xfrm>
              <a:off x="0" y="-57150"/>
              <a:ext cx="1689583" cy="457518"/>
            </a:xfrm>
            <a:prstGeom prst="rect">
              <a:avLst/>
            </a:prstGeom>
          </p:spPr>
          <p:txBody>
            <a:bodyPr anchor="ctr" rtlCol="false" tIns="0" lIns="0" bIns="0" rIns="0"/>
            <a:lstStyle/>
            <a:p>
              <a:pPr algn="l">
                <a:lnSpc>
                  <a:spcPts val="2364"/>
                </a:lnSpc>
              </a:pPr>
              <a:r>
                <a:rPr lang="en-US" sz="1576" spc="157">
                  <a:solidFill>
                    <a:srgbClr val="6B6965"/>
                  </a:solidFill>
                  <a:latin typeface="Arimo"/>
                  <a:ea typeface="Arimo"/>
                  <a:cs typeface="Arimo"/>
                  <a:sym typeface="Arimo"/>
                </a:rPr>
                <a:t>04 / 10</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5095" y="868918"/>
            <a:ext cx="17386744" cy="327793"/>
          </a:xfrm>
          <a:prstGeom prst="rect">
            <a:avLst/>
          </a:prstGeom>
        </p:spPr>
        <p:txBody>
          <a:bodyPr anchor="t" rtlCol="false" tIns="0" lIns="0" bIns="0" rIns="0">
            <a:spAutoFit/>
          </a:bodyPr>
          <a:lstStyle/>
          <a:p>
            <a:pPr algn="l">
              <a:lnSpc>
                <a:spcPts val="2213"/>
              </a:lnSpc>
            </a:pPr>
            <a:r>
              <a:rPr lang="en-US" sz="1576" spc="157">
                <a:solidFill>
                  <a:srgbClr val="6B6965"/>
                </a:solidFill>
                <a:latin typeface="Arimo"/>
                <a:ea typeface="Arimo"/>
                <a:cs typeface="Arimo"/>
                <a:sym typeface="Arimo"/>
              </a:rPr>
              <a:t>MODEL CHOICE</a:t>
            </a:r>
          </a:p>
        </p:txBody>
      </p:sp>
      <p:sp>
        <p:nvSpPr>
          <p:cNvPr name="TextBox 3" id="3"/>
          <p:cNvSpPr txBox="true"/>
          <p:nvPr/>
        </p:nvSpPr>
        <p:spPr>
          <a:xfrm rot="0">
            <a:off x="915095" y="1403823"/>
            <a:ext cx="16471659" cy="547840"/>
          </a:xfrm>
          <a:prstGeom prst="rect">
            <a:avLst/>
          </a:prstGeom>
        </p:spPr>
        <p:txBody>
          <a:bodyPr anchor="t" rtlCol="false" tIns="0" lIns="0" bIns="0" rIns="0">
            <a:spAutoFit/>
          </a:bodyPr>
          <a:lstStyle/>
          <a:p>
            <a:pPr algn="l">
              <a:lnSpc>
                <a:spcPts val="4539"/>
              </a:lnSpc>
            </a:pPr>
            <a:r>
              <a:rPr lang="en-US" sz="4203" spc="-63">
                <a:solidFill>
                  <a:srgbClr val="141414"/>
                </a:solidFill>
                <a:latin typeface="Arimo"/>
                <a:ea typeface="Arimo"/>
                <a:cs typeface="Arimo"/>
                <a:sym typeface="Arimo"/>
              </a:rPr>
              <a:t>Why Categorical Naive Bayes?</a:t>
            </a:r>
          </a:p>
        </p:txBody>
      </p:sp>
      <p:sp>
        <p:nvSpPr>
          <p:cNvPr name="TextBox 4" id="4"/>
          <p:cNvSpPr txBox="true"/>
          <p:nvPr/>
        </p:nvSpPr>
        <p:spPr>
          <a:xfrm rot="0">
            <a:off x="915095" y="2149707"/>
            <a:ext cx="16471659" cy="547021"/>
          </a:xfrm>
          <a:prstGeom prst="rect">
            <a:avLst/>
          </a:prstGeom>
        </p:spPr>
        <p:txBody>
          <a:bodyPr anchor="t" rtlCol="false" tIns="0" lIns="0" bIns="0" rIns="0">
            <a:spAutoFit/>
          </a:bodyPr>
          <a:lstStyle/>
          <a:p>
            <a:pPr algn="l">
              <a:lnSpc>
                <a:spcPts val="3793"/>
              </a:lnSpc>
            </a:pPr>
            <a:r>
              <a:rPr lang="en-US" sz="2702">
                <a:solidFill>
                  <a:srgbClr val="141414"/>
                </a:solidFill>
                <a:latin typeface="Arimo"/>
                <a:ea typeface="Arimo"/>
                <a:cs typeface="Arimo"/>
                <a:sym typeface="Arimo"/>
              </a:rPr>
              <a:t>A simple classifier for mostly categorical predictors.</a:t>
            </a:r>
          </a:p>
        </p:txBody>
      </p:sp>
      <p:sp>
        <p:nvSpPr>
          <p:cNvPr name="TextBox 5" id="5"/>
          <p:cNvSpPr txBox="true"/>
          <p:nvPr/>
        </p:nvSpPr>
        <p:spPr>
          <a:xfrm rot="0">
            <a:off x="915095" y="4506439"/>
            <a:ext cx="1214161" cy="228810"/>
          </a:xfrm>
          <a:prstGeom prst="rect">
            <a:avLst/>
          </a:prstGeom>
        </p:spPr>
        <p:txBody>
          <a:bodyPr anchor="t" rtlCol="false" tIns="0" lIns="0" bIns="0" rIns="0">
            <a:spAutoFit/>
          </a:bodyPr>
          <a:lstStyle/>
          <a:p>
            <a:pPr algn="l">
              <a:lnSpc>
                <a:spcPts val="2093"/>
              </a:lnSpc>
            </a:pPr>
            <a:r>
              <a:rPr lang="en-US" sz="2101">
                <a:solidFill>
                  <a:srgbClr val="141414"/>
                </a:solidFill>
                <a:latin typeface="Arimo"/>
                <a:ea typeface="Arimo"/>
                <a:cs typeface="Arimo"/>
                <a:sym typeface="Arimo"/>
              </a:rPr>
              <a:t>01</a:t>
            </a:r>
          </a:p>
        </p:txBody>
      </p:sp>
      <p:grpSp>
        <p:nvGrpSpPr>
          <p:cNvPr name="Group 6" id="6"/>
          <p:cNvGrpSpPr/>
          <p:nvPr/>
        </p:nvGrpSpPr>
        <p:grpSpPr>
          <a:xfrm rot="0">
            <a:off x="915095" y="4842034"/>
            <a:ext cx="5185524" cy="28594"/>
            <a:chOff x="0" y="0"/>
            <a:chExt cx="6914032" cy="38125"/>
          </a:xfrm>
        </p:grpSpPr>
        <p:sp>
          <p:nvSpPr>
            <p:cNvPr name="Freeform 7" id="7"/>
            <p:cNvSpPr/>
            <p:nvPr/>
          </p:nvSpPr>
          <p:spPr>
            <a:xfrm flipH="false" flipV="false" rot="0">
              <a:off x="0" y="0"/>
              <a:ext cx="6914007" cy="38100"/>
            </a:xfrm>
            <a:custGeom>
              <a:avLst/>
              <a:gdLst/>
              <a:ahLst/>
              <a:cxnLst/>
              <a:rect r="r" b="b" t="t" l="l"/>
              <a:pathLst>
                <a:path h="38100" w="6914007">
                  <a:moveTo>
                    <a:pt x="0" y="0"/>
                  </a:moveTo>
                  <a:lnTo>
                    <a:pt x="6914007" y="0"/>
                  </a:lnTo>
                  <a:lnTo>
                    <a:pt x="6914007" y="38100"/>
                  </a:lnTo>
                  <a:lnTo>
                    <a:pt x="0" y="38100"/>
                  </a:lnTo>
                  <a:close/>
                </a:path>
              </a:pathLst>
            </a:custGeom>
            <a:solidFill>
              <a:srgbClr val="2563EB"/>
            </a:solidFill>
          </p:spPr>
        </p:sp>
      </p:grpSp>
      <p:sp>
        <p:nvSpPr>
          <p:cNvPr name="TextBox 8" id="8"/>
          <p:cNvSpPr txBox="true"/>
          <p:nvPr/>
        </p:nvSpPr>
        <p:spPr>
          <a:xfrm rot="0">
            <a:off x="915095" y="4956934"/>
            <a:ext cx="5185524" cy="610019"/>
          </a:xfrm>
          <a:prstGeom prst="rect">
            <a:avLst/>
          </a:prstGeom>
        </p:spPr>
        <p:txBody>
          <a:bodyPr anchor="t" rtlCol="false" tIns="0" lIns="0" bIns="0" rIns="0">
            <a:spAutoFit/>
          </a:bodyPr>
          <a:lstStyle/>
          <a:p>
            <a:pPr algn="l">
              <a:lnSpc>
                <a:spcPts val="4215"/>
              </a:lnSpc>
            </a:pPr>
            <a:r>
              <a:rPr lang="en-US" sz="3002">
                <a:solidFill>
                  <a:srgbClr val="141414"/>
                </a:solidFill>
                <a:latin typeface="Arimo"/>
                <a:ea typeface="Arimo"/>
                <a:cs typeface="Arimo"/>
                <a:sym typeface="Arimo"/>
              </a:rPr>
              <a:t>Predictor categories</a:t>
            </a:r>
          </a:p>
        </p:txBody>
      </p:sp>
      <p:sp>
        <p:nvSpPr>
          <p:cNvPr name="TextBox 9" id="9"/>
          <p:cNvSpPr txBox="true"/>
          <p:nvPr/>
        </p:nvSpPr>
        <p:spPr>
          <a:xfrm rot="0">
            <a:off x="915095" y="5740965"/>
            <a:ext cx="5185524" cy="867404"/>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Symptoms + asthma-control category + clinical history</a:t>
            </a:r>
          </a:p>
        </p:txBody>
      </p:sp>
      <p:sp>
        <p:nvSpPr>
          <p:cNvPr name="TextBox 10" id="10"/>
          <p:cNvSpPr txBox="true"/>
          <p:nvPr/>
        </p:nvSpPr>
        <p:spPr>
          <a:xfrm rot="0">
            <a:off x="6558163" y="4506439"/>
            <a:ext cx="1214161" cy="228810"/>
          </a:xfrm>
          <a:prstGeom prst="rect">
            <a:avLst/>
          </a:prstGeom>
        </p:spPr>
        <p:txBody>
          <a:bodyPr anchor="t" rtlCol="false" tIns="0" lIns="0" bIns="0" rIns="0">
            <a:spAutoFit/>
          </a:bodyPr>
          <a:lstStyle/>
          <a:p>
            <a:pPr algn="l">
              <a:lnSpc>
                <a:spcPts val="2093"/>
              </a:lnSpc>
            </a:pPr>
            <a:r>
              <a:rPr lang="en-US" sz="2101">
                <a:solidFill>
                  <a:srgbClr val="141414"/>
                </a:solidFill>
                <a:latin typeface="Arimo"/>
                <a:ea typeface="Arimo"/>
                <a:cs typeface="Arimo"/>
                <a:sym typeface="Arimo"/>
              </a:rPr>
              <a:t>02</a:t>
            </a:r>
          </a:p>
        </p:txBody>
      </p:sp>
      <p:grpSp>
        <p:nvGrpSpPr>
          <p:cNvPr name="Group 11" id="11"/>
          <p:cNvGrpSpPr/>
          <p:nvPr/>
        </p:nvGrpSpPr>
        <p:grpSpPr>
          <a:xfrm rot="0">
            <a:off x="6558163" y="4842034"/>
            <a:ext cx="5185524" cy="28594"/>
            <a:chOff x="0" y="0"/>
            <a:chExt cx="6914032" cy="38125"/>
          </a:xfrm>
        </p:grpSpPr>
        <p:sp>
          <p:nvSpPr>
            <p:cNvPr name="Freeform 12" id="12"/>
            <p:cNvSpPr/>
            <p:nvPr/>
          </p:nvSpPr>
          <p:spPr>
            <a:xfrm flipH="false" flipV="false" rot="0">
              <a:off x="0" y="0"/>
              <a:ext cx="6914007" cy="38100"/>
            </a:xfrm>
            <a:custGeom>
              <a:avLst/>
              <a:gdLst/>
              <a:ahLst/>
              <a:cxnLst/>
              <a:rect r="r" b="b" t="t" l="l"/>
              <a:pathLst>
                <a:path h="38100" w="6914007">
                  <a:moveTo>
                    <a:pt x="0" y="0"/>
                  </a:moveTo>
                  <a:lnTo>
                    <a:pt x="6914007" y="0"/>
                  </a:lnTo>
                  <a:lnTo>
                    <a:pt x="6914007" y="38100"/>
                  </a:lnTo>
                  <a:lnTo>
                    <a:pt x="0" y="38100"/>
                  </a:lnTo>
                  <a:close/>
                </a:path>
              </a:pathLst>
            </a:custGeom>
            <a:solidFill>
              <a:srgbClr val="2563EB"/>
            </a:solidFill>
          </p:spPr>
        </p:sp>
      </p:grpSp>
      <p:sp>
        <p:nvSpPr>
          <p:cNvPr name="TextBox 13" id="13"/>
          <p:cNvSpPr txBox="true"/>
          <p:nvPr/>
        </p:nvSpPr>
        <p:spPr>
          <a:xfrm rot="0">
            <a:off x="6558163" y="4956934"/>
            <a:ext cx="5185524" cy="610019"/>
          </a:xfrm>
          <a:prstGeom prst="rect">
            <a:avLst/>
          </a:prstGeom>
        </p:spPr>
        <p:txBody>
          <a:bodyPr anchor="t" rtlCol="false" tIns="0" lIns="0" bIns="0" rIns="0">
            <a:spAutoFit/>
          </a:bodyPr>
          <a:lstStyle/>
          <a:p>
            <a:pPr algn="l">
              <a:lnSpc>
                <a:spcPts val="4215"/>
              </a:lnSpc>
            </a:pPr>
            <a:r>
              <a:rPr lang="en-US" sz="3002">
                <a:solidFill>
                  <a:srgbClr val="141414"/>
                </a:solidFill>
                <a:latin typeface="Arimo"/>
                <a:ea typeface="Arimo"/>
                <a:cs typeface="Arimo"/>
                <a:sym typeface="Arimo"/>
              </a:rPr>
              <a:t>Estimated class probabilities</a:t>
            </a:r>
          </a:p>
        </p:txBody>
      </p:sp>
      <p:sp>
        <p:nvSpPr>
          <p:cNvPr name="TextBox 14" id="14"/>
          <p:cNvSpPr txBox="true"/>
          <p:nvPr/>
        </p:nvSpPr>
        <p:spPr>
          <a:xfrm rot="0">
            <a:off x="6558163" y="5740965"/>
            <a:ext cx="5185524" cy="867404"/>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Estimate category likelihoods within each class and combine the evidence.</a:t>
            </a:r>
          </a:p>
        </p:txBody>
      </p:sp>
      <p:sp>
        <p:nvSpPr>
          <p:cNvPr name="TextBox 15" id="15"/>
          <p:cNvSpPr txBox="true"/>
          <p:nvPr/>
        </p:nvSpPr>
        <p:spPr>
          <a:xfrm rot="0">
            <a:off x="12201230" y="4506439"/>
            <a:ext cx="1214161" cy="228810"/>
          </a:xfrm>
          <a:prstGeom prst="rect">
            <a:avLst/>
          </a:prstGeom>
        </p:spPr>
        <p:txBody>
          <a:bodyPr anchor="t" rtlCol="false" tIns="0" lIns="0" bIns="0" rIns="0">
            <a:spAutoFit/>
          </a:bodyPr>
          <a:lstStyle/>
          <a:p>
            <a:pPr algn="l">
              <a:lnSpc>
                <a:spcPts val="2093"/>
              </a:lnSpc>
            </a:pPr>
            <a:r>
              <a:rPr lang="en-US" sz="2101">
                <a:solidFill>
                  <a:srgbClr val="141414"/>
                </a:solidFill>
                <a:latin typeface="Arimo"/>
                <a:ea typeface="Arimo"/>
                <a:cs typeface="Arimo"/>
                <a:sym typeface="Arimo"/>
              </a:rPr>
              <a:t>03</a:t>
            </a:r>
          </a:p>
        </p:txBody>
      </p:sp>
      <p:grpSp>
        <p:nvGrpSpPr>
          <p:cNvPr name="Group 16" id="16"/>
          <p:cNvGrpSpPr/>
          <p:nvPr/>
        </p:nvGrpSpPr>
        <p:grpSpPr>
          <a:xfrm rot="0">
            <a:off x="12201230" y="4842034"/>
            <a:ext cx="5185524" cy="28594"/>
            <a:chOff x="0" y="0"/>
            <a:chExt cx="6914032" cy="38125"/>
          </a:xfrm>
        </p:grpSpPr>
        <p:sp>
          <p:nvSpPr>
            <p:cNvPr name="Freeform 17" id="17"/>
            <p:cNvSpPr/>
            <p:nvPr/>
          </p:nvSpPr>
          <p:spPr>
            <a:xfrm flipH="false" flipV="false" rot="0">
              <a:off x="0" y="0"/>
              <a:ext cx="6914007" cy="38100"/>
            </a:xfrm>
            <a:custGeom>
              <a:avLst/>
              <a:gdLst/>
              <a:ahLst/>
              <a:cxnLst/>
              <a:rect r="r" b="b" t="t" l="l"/>
              <a:pathLst>
                <a:path h="38100" w="6914007">
                  <a:moveTo>
                    <a:pt x="0" y="0"/>
                  </a:moveTo>
                  <a:lnTo>
                    <a:pt x="6914007" y="0"/>
                  </a:lnTo>
                  <a:lnTo>
                    <a:pt x="6914007" y="38100"/>
                  </a:lnTo>
                  <a:lnTo>
                    <a:pt x="0" y="38100"/>
                  </a:lnTo>
                  <a:close/>
                </a:path>
              </a:pathLst>
            </a:custGeom>
            <a:solidFill>
              <a:srgbClr val="2563EB"/>
            </a:solidFill>
          </p:spPr>
        </p:sp>
      </p:grpSp>
      <p:sp>
        <p:nvSpPr>
          <p:cNvPr name="TextBox 18" id="18"/>
          <p:cNvSpPr txBox="true"/>
          <p:nvPr/>
        </p:nvSpPr>
        <p:spPr>
          <a:xfrm rot="0">
            <a:off x="12201230" y="4956934"/>
            <a:ext cx="5185524" cy="610019"/>
          </a:xfrm>
          <a:prstGeom prst="rect">
            <a:avLst/>
          </a:prstGeom>
        </p:spPr>
        <p:txBody>
          <a:bodyPr anchor="t" rtlCol="false" tIns="0" lIns="0" bIns="0" rIns="0">
            <a:spAutoFit/>
          </a:bodyPr>
          <a:lstStyle/>
          <a:p>
            <a:pPr algn="l">
              <a:lnSpc>
                <a:spcPts val="4215"/>
              </a:lnSpc>
            </a:pPr>
            <a:r>
              <a:rPr lang="en-US" sz="3002">
                <a:solidFill>
                  <a:srgbClr val="141414"/>
                </a:solidFill>
                <a:latin typeface="Arimo"/>
                <a:ea typeface="Arimo"/>
                <a:cs typeface="Arimo"/>
                <a:sym typeface="Arimo"/>
              </a:rPr>
              <a:t>Predicted class</a:t>
            </a:r>
          </a:p>
        </p:txBody>
      </p:sp>
      <p:sp>
        <p:nvSpPr>
          <p:cNvPr name="TextBox 19" id="19"/>
          <p:cNvSpPr txBox="true"/>
          <p:nvPr/>
        </p:nvSpPr>
        <p:spPr>
          <a:xfrm rot="0">
            <a:off x="12201230" y="5740965"/>
            <a:ext cx="5185524" cy="867404"/>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Choose the more likely class: Exacerbation or No Exacerbation.</a:t>
            </a:r>
          </a:p>
        </p:txBody>
      </p:sp>
      <p:sp>
        <p:nvSpPr>
          <p:cNvPr name="TextBox 20" id="20"/>
          <p:cNvSpPr txBox="true"/>
          <p:nvPr/>
        </p:nvSpPr>
        <p:spPr>
          <a:xfrm rot="0">
            <a:off x="915095" y="8307581"/>
            <a:ext cx="17386744" cy="467039"/>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Key assumption: predictors are independent given the class.</a:t>
            </a:r>
          </a:p>
        </p:txBody>
      </p:sp>
      <p:sp>
        <p:nvSpPr>
          <p:cNvPr name="TextBox 21" id="21"/>
          <p:cNvSpPr txBox="true"/>
          <p:nvPr/>
        </p:nvSpPr>
        <p:spPr>
          <a:xfrm rot="0">
            <a:off x="915095" y="9022509"/>
            <a:ext cx="17386744" cy="357426"/>
          </a:xfrm>
          <a:prstGeom prst="rect">
            <a:avLst/>
          </a:prstGeom>
        </p:spPr>
        <p:txBody>
          <a:bodyPr anchor="t" rtlCol="false" tIns="0" lIns="0" bIns="0" rIns="0">
            <a:spAutoFit/>
          </a:bodyPr>
          <a:lstStyle/>
          <a:p>
            <a:pPr algn="l">
              <a:lnSpc>
                <a:spcPts val="2364"/>
              </a:lnSpc>
            </a:pPr>
            <a:r>
              <a:rPr lang="en-US" sz="1576" spc="126">
                <a:solidFill>
                  <a:srgbClr val="000000"/>
                </a:solidFill>
                <a:latin typeface="Arimo"/>
                <a:ea typeface="Arimo"/>
                <a:cs typeface="Arimo"/>
                <a:sym typeface="Arimo"/>
              </a:rPr>
              <a:t>ILLUSTRATION, NOT A REAL PATIENT PREDICTION</a:t>
            </a:r>
          </a:p>
        </p:txBody>
      </p:sp>
      <p:grpSp>
        <p:nvGrpSpPr>
          <p:cNvPr name="Group 22" id="22"/>
          <p:cNvGrpSpPr/>
          <p:nvPr/>
        </p:nvGrpSpPr>
        <p:grpSpPr>
          <a:xfrm rot="0">
            <a:off x="17034653" y="9687354"/>
            <a:ext cx="1267187" cy="300276"/>
            <a:chOff x="0" y="0"/>
            <a:chExt cx="1689583" cy="400368"/>
          </a:xfrm>
        </p:grpSpPr>
        <p:sp>
          <p:nvSpPr>
            <p:cNvPr name="Freeform 23" id="23"/>
            <p:cNvSpPr/>
            <p:nvPr/>
          </p:nvSpPr>
          <p:spPr>
            <a:xfrm flipH="false" flipV="false" rot="0">
              <a:off x="0" y="0"/>
              <a:ext cx="1689584" cy="400363"/>
            </a:xfrm>
            <a:custGeom>
              <a:avLst/>
              <a:gdLst/>
              <a:ahLst/>
              <a:cxnLst/>
              <a:rect r="r" b="b" t="t" l="l"/>
              <a:pathLst>
                <a:path h="400363" w="1689584">
                  <a:moveTo>
                    <a:pt x="0" y="0"/>
                  </a:moveTo>
                  <a:lnTo>
                    <a:pt x="1689584" y="0"/>
                  </a:lnTo>
                  <a:lnTo>
                    <a:pt x="1689584" y="400363"/>
                  </a:lnTo>
                  <a:lnTo>
                    <a:pt x="0" y="400363"/>
                  </a:lnTo>
                  <a:close/>
                </a:path>
              </a:pathLst>
            </a:custGeom>
            <a:blipFill>
              <a:blip r:embed="rId3">
                <a:alphaModFix amt="0"/>
              </a:blip>
              <a:stretch>
                <a:fillRect l="0" t="-32228" r="0" b="-32229"/>
              </a:stretch>
            </a:blipFill>
          </p:spPr>
        </p:sp>
        <p:sp>
          <p:nvSpPr>
            <p:cNvPr name="TextBox 24" id="24"/>
            <p:cNvSpPr txBox="true"/>
            <p:nvPr/>
          </p:nvSpPr>
          <p:spPr>
            <a:xfrm>
              <a:off x="0" y="-57150"/>
              <a:ext cx="1689583" cy="457518"/>
            </a:xfrm>
            <a:prstGeom prst="rect">
              <a:avLst/>
            </a:prstGeom>
          </p:spPr>
          <p:txBody>
            <a:bodyPr anchor="ctr" rtlCol="false" tIns="0" lIns="0" bIns="0" rIns="0"/>
            <a:lstStyle/>
            <a:p>
              <a:pPr algn="l">
                <a:lnSpc>
                  <a:spcPts val="2364"/>
                </a:lnSpc>
              </a:pPr>
              <a:r>
                <a:rPr lang="en-US" sz="1576" spc="157">
                  <a:solidFill>
                    <a:srgbClr val="6B6965"/>
                  </a:solidFill>
                  <a:latin typeface="Arimo"/>
                  <a:ea typeface="Arimo"/>
                  <a:cs typeface="Arimo"/>
                  <a:sym typeface="Arimo"/>
                </a:rPr>
                <a:t>05 / 10</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5095" y="868918"/>
            <a:ext cx="17386744" cy="327793"/>
          </a:xfrm>
          <a:prstGeom prst="rect">
            <a:avLst/>
          </a:prstGeom>
        </p:spPr>
        <p:txBody>
          <a:bodyPr anchor="t" rtlCol="false" tIns="0" lIns="0" bIns="0" rIns="0">
            <a:spAutoFit/>
          </a:bodyPr>
          <a:lstStyle/>
          <a:p>
            <a:pPr algn="l">
              <a:lnSpc>
                <a:spcPts val="2213"/>
              </a:lnSpc>
            </a:pPr>
            <a:r>
              <a:rPr lang="en-US" sz="1576" spc="157">
                <a:solidFill>
                  <a:srgbClr val="6B6965"/>
                </a:solidFill>
                <a:latin typeface="Arimo"/>
                <a:ea typeface="Arimo"/>
                <a:cs typeface="Arimo"/>
                <a:sym typeface="Arimo"/>
              </a:rPr>
              <a:t>HELD-OUT RESULTS</a:t>
            </a:r>
          </a:p>
        </p:txBody>
      </p:sp>
      <p:sp>
        <p:nvSpPr>
          <p:cNvPr name="TextBox 3" id="3"/>
          <p:cNvSpPr txBox="true"/>
          <p:nvPr/>
        </p:nvSpPr>
        <p:spPr>
          <a:xfrm rot="0">
            <a:off x="915095" y="1403823"/>
            <a:ext cx="16471659" cy="547840"/>
          </a:xfrm>
          <a:prstGeom prst="rect">
            <a:avLst/>
          </a:prstGeom>
        </p:spPr>
        <p:txBody>
          <a:bodyPr anchor="t" rtlCol="false" tIns="0" lIns="0" bIns="0" rIns="0">
            <a:spAutoFit/>
          </a:bodyPr>
          <a:lstStyle/>
          <a:p>
            <a:pPr algn="l">
              <a:lnSpc>
                <a:spcPts val="4539"/>
              </a:lnSpc>
            </a:pPr>
            <a:r>
              <a:rPr lang="en-US" sz="4203" spc="-63">
                <a:solidFill>
                  <a:srgbClr val="141414"/>
                </a:solidFill>
                <a:latin typeface="Arimo"/>
                <a:ea typeface="Arimo"/>
                <a:cs typeface="Arimo"/>
                <a:sym typeface="Arimo"/>
              </a:rPr>
              <a:t>The model found only 2 of 7 exacerbations</a:t>
            </a:r>
          </a:p>
        </p:txBody>
      </p:sp>
      <p:sp>
        <p:nvSpPr>
          <p:cNvPr name="TextBox 4" id="4"/>
          <p:cNvSpPr txBox="true"/>
          <p:nvPr/>
        </p:nvSpPr>
        <p:spPr>
          <a:xfrm rot="0">
            <a:off x="915095" y="3216040"/>
            <a:ext cx="6314046" cy="1266730"/>
          </a:xfrm>
          <a:prstGeom prst="rect">
            <a:avLst/>
          </a:prstGeom>
        </p:spPr>
        <p:txBody>
          <a:bodyPr anchor="t" rtlCol="false" tIns="0" lIns="0" bIns="0" rIns="0">
            <a:spAutoFit/>
          </a:bodyPr>
          <a:lstStyle/>
          <a:p>
            <a:pPr algn="l">
              <a:lnSpc>
                <a:spcPts val="11024"/>
              </a:lnSpc>
            </a:pPr>
            <a:r>
              <a:rPr lang="en-US" sz="10808" spc="-270">
                <a:solidFill>
                  <a:srgbClr val="2563EB"/>
                </a:solidFill>
                <a:latin typeface="Arimo"/>
                <a:ea typeface="Arimo"/>
                <a:cs typeface="Arimo"/>
                <a:sym typeface="Arimo"/>
              </a:rPr>
              <a:t>2</a:t>
            </a:r>
          </a:p>
        </p:txBody>
      </p:sp>
      <p:sp>
        <p:nvSpPr>
          <p:cNvPr name="TextBox 5" id="5"/>
          <p:cNvSpPr txBox="true"/>
          <p:nvPr/>
        </p:nvSpPr>
        <p:spPr>
          <a:xfrm rot="0">
            <a:off x="915095" y="4480160"/>
            <a:ext cx="6314046" cy="610019"/>
          </a:xfrm>
          <a:prstGeom prst="rect">
            <a:avLst/>
          </a:prstGeom>
        </p:spPr>
        <p:txBody>
          <a:bodyPr anchor="t" rtlCol="false" tIns="0" lIns="0" bIns="0" rIns="0">
            <a:spAutoFit/>
          </a:bodyPr>
          <a:lstStyle/>
          <a:p>
            <a:pPr algn="l">
              <a:lnSpc>
                <a:spcPts val="4215"/>
              </a:lnSpc>
            </a:pPr>
            <a:r>
              <a:rPr lang="en-US" sz="3002">
                <a:solidFill>
                  <a:srgbClr val="141414"/>
                </a:solidFill>
                <a:latin typeface="Arimo"/>
                <a:ea typeface="Arimo"/>
                <a:cs typeface="Arimo"/>
                <a:sym typeface="Arimo"/>
              </a:rPr>
              <a:t>caught</a:t>
            </a:r>
          </a:p>
        </p:txBody>
      </p:sp>
      <p:sp>
        <p:nvSpPr>
          <p:cNvPr name="TextBox 6" id="6"/>
          <p:cNvSpPr txBox="true"/>
          <p:nvPr/>
        </p:nvSpPr>
        <p:spPr>
          <a:xfrm rot="0">
            <a:off x="915095" y="5550303"/>
            <a:ext cx="6314046" cy="1266730"/>
          </a:xfrm>
          <a:prstGeom prst="rect">
            <a:avLst/>
          </a:prstGeom>
        </p:spPr>
        <p:txBody>
          <a:bodyPr anchor="t" rtlCol="false" tIns="0" lIns="0" bIns="0" rIns="0">
            <a:spAutoFit/>
          </a:bodyPr>
          <a:lstStyle/>
          <a:p>
            <a:pPr algn="l">
              <a:lnSpc>
                <a:spcPts val="11024"/>
              </a:lnSpc>
            </a:pPr>
            <a:r>
              <a:rPr lang="en-US" sz="10808" spc="-270">
                <a:solidFill>
                  <a:srgbClr val="141414"/>
                </a:solidFill>
                <a:latin typeface="Arimo"/>
                <a:ea typeface="Arimo"/>
                <a:cs typeface="Arimo"/>
                <a:sym typeface="Arimo"/>
              </a:rPr>
              <a:t>5</a:t>
            </a:r>
          </a:p>
        </p:txBody>
      </p:sp>
      <p:sp>
        <p:nvSpPr>
          <p:cNvPr name="TextBox 7" id="7"/>
          <p:cNvSpPr txBox="true"/>
          <p:nvPr/>
        </p:nvSpPr>
        <p:spPr>
          <a:xfrm rot="0">
            <a:off x="915095" y="6814423"/>
            <a:ext cx="6314046" cy="610019"/>
          </a:xfrm>
          <a:prstGeom prst="rect">
            <a:avLst/>
          </a:prstGeom>
        </p:spPr>
        <p:txBody>
          <a:bodyPr anchor="t" rtlCol="false" tIns="0" lIns="0" bIns="0" rIns="0">
            <a:spAutoFit/>
          </a:bodyPr>
          <a:lstStyle/>
          <a:p>
            <a:pPr algn="l">
              <a:lnSpc>
                <a:spcPts val="4215"/>
              </a:lnSpc>
            </a:pPr>
            <a:r>
              <a:rPr lang="en-US" sz="3002">
                <a:solidFill>
                  <a:srgbClr val="141414"/>
                </a:solidFill>
                <a:latin typeface="Arimo"/>
                <a:ea typeface="Arimo"/>
                <a:cs typeface="Arimo"/>
                <a:sym typeface="Arimo"/>
              </a:rPr>
              <a:t>missed</a:t>
            </a:r>
          </a:p>
        </p:txBody>
      </p:sp>
      <p:sp>
        <p:nvSpPr>
          <p:cNvPr name="TextBox 8" id="8"/>
          <p:cNvSpPr txBox="true"/>
          <p:nvPr/>
        </p:nvSpPr>
        <p:spPr>
          <a:xfrm rot="0">
            <a:off x="915095" y="7598454"/>
            <a:ext cx="6314046" cy="467039"/>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38 test observations</a:t>
            </a:r>
          </a:p>
        </p:txBody>
      </p:sp>
      <p:sp>
        <p:nvSpPr>
          <p:cNvPr name="TextBox 9" id="9"/>
          <p:cNvSpPr txBox="true"/>
          <p:nvPr/>
        </p:nvSpPr>
        <p:spPr>
          <a:xfrm rot="0">
            <a:off x="7915304" y="2191169"/>
            <a:ext cx="9471441" cy="857879"/>
          </a:xfrm>
          <a:prstGeom prst="rect">
            <a:avLst/>
          </a:prstGeom>
        </p:spPr>
        <p:txBody>
          <a:bodyPr anchor="t" rtlCol="false" tIns="0" lIns="0" bIns="0" rIns="0">
            <a:spAutoFit/>
          </a:bodyPr>
          <a:lstStyle/>
          <a:p>
            <a:pPr algn="l">
              <a:lnSpc>
                <a:spcPts val="2364"/>
              </a:lnSpc>
            </a:pPr>
          </a:p>
          <a:p>
            <a:pPr algn="l">
              <a:lnSpc>
                <a:spcPts val="2364"/>
              </a:lnSpc>
            </a:pPr>
            <a:r>
              <a:rPr lang="en-US" sz="1576" spc="126">
                <a:solidFill>
                  <a:srgbClr val="000000"/>
                </a:solidFill>
                <a:latin typeface="Arimo"/>
                <a:ea typeface="Arimo"/>
                <a:cs typeface="Arimo"/>
                <a:sym typeface="Arimo"/>
              </a:rPr>
              <a:t>ROWS = ACTUAL · COLUMNS = PREDICTED</a:t>
            </a:r>
          </a:p>
        </p:txBody>
      </p:sp>
      <p:graphicFrame>
        <p:nvGraphicFramePr>
          <p:cNvPr name="Table 10" id="10"/>
          <p:cNvGraphicFramePr>
            <a:graphicFrameLocks noGrp="true"/>
          </p:cNvGraphicFramePr>
          <p:nvPr/>
        </p:nvGraphicFramePr>
        <p:xfrm>
          <a:off x="7915307" y="3249224"/>
          <a:ext cx="9418058" cy="3488876"/>
        </p:xfrm>
        <a:graphic>
          <a:graphicData uri="http://schemas.openxmlformats.org/drawingml/2006/table">
            <a:tbl>
              <a:tblPr/>
              <a:tblGrid>
                <a:gridCol w="3387498"/>
                <a:gridCol w="3015207"/>
                <a:gridCol w="3015353"/>
              </a:tblGrid>
              <a:tr h="1019543">
                <a:tc>
                  <a:txBody>
                    <a:bodyPr anchor="t" rtlCol="false"/>
                    <a:lstStyle/>
                    <a:p>
                      <a:pPr algn="l">
                        <a:lnSpc>
                          <a:spcPts val="2521"/>
                        </a:lnSpc>
                        <a:defRPr/>
                      </a:pPr>
                      <a:r>
                        <a:rPr lang="en-US" sz="2101">
                          <a:solidFill>
                            <a:srgbClr val="141414"/>
                          </a:solidFill>
                          <a:latin typeface="Arimo"/>
                          <a:ea typeface="Arimo"/>
                          <a:cs typeface="Arimo"/>
                          <a:sym typeface="Arimo"/>
                        </a:rPr>
                        <a:t>Actual outcome</a:t>
                      </a:r>
                      <a:endParaRPr lang="en-US" sz="1100"/>
                    </a:p>
                  </a:txBody>
                  <a:tcPr marL="133347" marR="133347" marT="133347" marB="133347" anchor="ctr">
                    <a:lnL cmpd="sng" algn="ctr" cap="flat" w="12700">
                      <a:solidFill>
                        <a:srgbClr val="C8C5BE"/>
                      </a:solidFill>
                      <a:prstDash val="solid"/>
                      <a:round/>
                      <a:headEnd type="none" w="med" len="med"/>
                      <a:tailEnd type="none" w="med" len="med"/>
                    </a:lnL>
                    <a:lnR cmpd="sng" algn="ctr" cap="flat" w="12700">
                      <a:solidFill>
                        <a:srgbClr val="C8C5BE"/>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c>
                  <a:txBody>
                    <a:bodyPr anchor="t" rtlCol="false"/>
                    <a:lstStyle/>
                    <a:p>
                      <a:pPr algn="l">
                        <a:lnSpc>
                          <a:spcPts val="2521"/>
                        </a:lnSpc>
                        <a:defRPr/>
                      </a:pPr>
                      <a:r>
                        <a:rPr lang="en-US" sz="2101">
                          <a:solidFill>
                            <a:srgbClr val="141414"/>
                          </a:solidFill>
                          <a:latin typeface="Arimo"/>
                          <a:ea typeface="Arimo"/>
                          <a:cs typeface="Arimo"/>
                          <a:sym typeface="Arimo"/>
                        </a:rPr>
                        <a:t>Predicted Exacerbation</a:t>
                      </a:r>
                      <a:endParaRPr lang="en-US" sz="1100"/>
                    </a:p>
                  </a:txBody>
                  <a:tcPr marL="133347" marR="133347" marT="133347" marB="133347" anchor="ctr">
                    <a:lnL cmpd="sng" algn="ctr" cap="flat" w="12700">
                      <a:solidFill>
                        <a:srgbClr val="C8C5BE"/>
                      </a:solidFill>
                      <a:prstDash val="solid"/>
                      <a:round/>
                      <a:headEnd type="none" w="med" len="med"/>
                      <a:tailEnd type="none" w="med" len="med"/>
                    </a:lnL>
                    <a:lnR cmpd="sng" algn="ctr" cap="flat" w="12700">
                      <a:solidFill>
                        <a:srgbClr val="C8C5BE"/>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c>
                  <a:txBody>
                    <a:bodyPr anchor="t" rtlCol="false"/>
                    <a:lstStyle/>
                    <a:p>
                      <a:pPr algn="l">
                        <a:lnSpc>
                          <a:spcPts val="2521"/>
                        </a:lnSpc>
                        <a:defRPr/>
                      </a:pPr>
                      <a:r>
                        <a:rPr lang="en-US" sz="2101">
                          <a:solidFill>
                            <a:srgbClr val="141414"/>
                          </a:solidFill>
                          <a:latin typeface="Arimo"/>
                          <a:ea typeface="Arimo"/>
                          <a:cs typeface="Arimo"/>
                          <a:sym typeface="Arimo"/>
                        </a:rPr>
                        <a:t>Predicted No Exacerbation</a:t>
                      </a:r>
                      <a:endParaRPr lang="en-US" sz="1100"/>
                    </a:p>
                  </a:txBody>
                  <a:tcPr marL="133347" marR="133347" marT="133347" marB="133347" anchor="ctr">
                    <a:lnL cmpd="sng" algn="ctr" cap="flat" w="12700">
                      <a:solidFill>
                        <a:srgbClr val="C8C5BE"/>
                      </a:solidFill>
                      <a:prstDash val="solid"/>
                      <a:round/>
                      <a:headEnd type="none" w="med" len="med"/>
                      <a:tailEnd type="none" w="med" len="med"/>
                    </a:lnL>
                    <a:lnR cmpd="sng" algn="ctr" cap="flat" w="12700">
                      <a:solidFill>
                        <a:srgbClr val="C8C5BE"/>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r>
              <a:tr h="1239243">
                <a:tc>
                  <a:txBody>
                    <a:bodyPr anchor="t" rtlCol="false"/>
                    <a:lstStyle/>
                    <a:p>
                      <a:pPr algn="l">
                        <a:lnSpc>
                          <a:spcPts val="2521"/>
                        </a:lnSpc>
                        <a:defRPr/>
                      </a:pPr>
                      <a:r>
                        <a:rPr lang="en-US" sz="2101">
                          <a:solidFill>
                            <a:srgbClr val="141414"/>
                          </a:solidFill>
                          <a:latin typeface="Arimo"/>
                          <a:ea typeface="Arimo"/>
                          <a:cs typeface="Arimo"/>
                          <a:sym typeface="Arimo"/>
                        </a:rPr>
                        <a:t>Exacerbation</a:t>
                      </a:r>
                      <a:endParaRPr lang="en-US" sz="1100"/>
                    </a:p>
                  </a:txBody>
                  <a:tcPr marL="133347" marR="133347" marT="133347" marB="133347" anchor="ctr">
                    <a:lnL cmpd="sng" algn="ctr" cap="flat" w="12700">
                      <a:solidFill>
                        <a:srgbClr val="C8C5BE"/>
                      </a:solidFill>
                      <a:prstDash val="solid"/>
                      <a:round/>
                      <a:headEnd type="none" w="med" len="med"/>
                      <a:tailEnd type="none" w="med" len="med"/>
                    </a:lnL>
                    <a:lnR cmpd="sng" algn="ctr" cap="flat" w="12700">
                      <a:solidFill>
                        <a:srgbClr val="C8C5BE"/>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c>
                  <a:txBody>
                    <a:bodyPr anchor="t" rtlCol="false"/>
                    <a:lstStyle/>
                    <a:p>
                      <a:pPr algn="l">
                        <a:lnSpc>
                          <a:spcPts val="6485"/>
                        </a:lnSpc>
                        <a:defRPr/>
                      </a:pPr>
                      <a:r>
                        <a:rPr lang="en-US" sz="5404">
                          <a:solidFill>
                            <a:srgbClr val="FFFFFF"/>
                          </a:solidFill>
                          <a:latin typeface="Arimo"/>
                          <a:ea typeface="Arimo"/>
                          <a:cs typeface="Arimo"/>
                          <a:sym typeface="Arimo"/>
                        </a:rPr>
                        <a:t>2</a:t>
                      </a:r>
                      <a:endParaRPr lang="en-US" sz="1100"/>
                    </a:p>
                  </a:txBody>
                  <a:tcPr marL="133347" marR="133347" marT="133347" marB="133347" anchor="ctr">
                    <a:lnL cmpd="sng" algn="ctr" cap="flat" w="12700">
                      <a:solidFill>
                        <a:srgbClr val="C8C5BE"/>
                      </a:solidFill>
                      <a:prstDash val="solid"/>
                      <a:round/>
                      <a:headEnd type="none" w="med" len="med"/>
                      <a:tailEnd type="none" w="med" len="med"/>
                    </a:lnL>
                    <a:lnR cmpd="sng" algn="ctr" cap="flat" w="12700">
                      <a:solidFill>
                        <a:srgbClr val="C8C5BE"/>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C8C5BE"/>
                      </a:solidFill>
                      <a:prstDash val="solid"/>
                      <a:round/>
                      <a:headEnd type="none" w="med" len="med"/>
                      <a:tailEnd type="none" w="med" len="med"/>
                    </a:lnB>
                    <a:solidFill>
                      <a:srgbClr val="2563EB"/>
                    </a:solidFill>
                  </a:tcPr>
                </a:tc>
                <a:tc>
                  <a:txBody>
                    <a:bodyPr anchor="t" rtlCol="false"/>
                    <a:lstStyle/>
                    <a:p>
                      <a:pPr algn="l">
                        <a:lnSpc>
                          <a:spcPts val="6485"/>
                        </a:lnSpc>
                        <a:defRPr/>
                      </a:pPr>
                      <a:r>
                        <a:rPr lang="en-US" sz="5404">
                          <a:solidFill>
                            <a:srgbClr val="2B2B2B"/>
                          </a:solidFill>
                          <a:latin typeface="Arimo"/>
                          <a:ea typeface="Arimo"/>
                          <a:cs typeface="Arimo"/>
                          <a:sym typeface="Arimo"/>
                        </a:rPr>
                        <a:t>5</a:t>
                      </a:r>
                      <a:endParaRPr lang="en-US" sz="1100"/>
                    </a:p>
                  </a:txBody>
                  <a:tcPr marL="133347" marR="133347" marT="133347" marB="133347" anchor="ctr">
                    <a:lnL cmpd="sng" algn="ctr" cap="flat" w="12700">
                      <a:solidFill>
                        <a:srgbClr val="C8C5BE"/>
                      </a:solidFill>
                      <a:prstDash val="solid"/>
                      <a:round/>
                      <a:headEnd type="none" w="med" len="med"/>
                      <a:tailEnd type="none" w="med" len="med"/>
                    </a:lnL>
                    <a:lnR cmpd="sng" algn="ctr" cap="flat" w="12700">
                      <a:solidFill>
                        <a:srgbClr val="C8C5BE"/>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r>
              <a:tr h="1230090">
                <a:tc>
                  <a:txBody>
                    <a:bodyPr anchor="t" rtlCol="false"/>
                    <a:lstStyle/>
                    <a:p>
                      <a:pPr algn="l">
                        <a:lnSpc>
                          <a:spcPts val="2521"/>
                        </a:lnSpc>
                        <a:defRPr/>
                      </a:pPr>
                      <a:r>
                        <a:rPr lang="en-US" sz="2101">
                          <a:solidFill>
                            <a:srgbClr val="141414"/>
                          </a:solidFill>
                          <a:latin typeface="Arimo"/>
                          <a:ea typeface="Arimo"/>
                          <a:cs typeface="Arimo"/>
                          <a:sym typeface="Arimo"/>
                        </a:rPr>
                        <a:t>No Exacerbation</a:t>
                      </a:r>
                      <a:endParaRPr lang="en-US" sz="1100"/>
                    </a:p>
                  </a:txBody>
                  <a:tcPr marL="133347" marR="133347" marT="133347" marB="133347" anchor="ctr">
                    <a:lnL cmpd="sng" algn="ctr" cap="flat" w="12700">
                      <a:solidFill>
                        <a:srgbClr val="C8C5BE"/>
                      </a:solidFill>
                      <a:prstDash val="solid"/>
                      <a:round/>
                      <a:headEnd type="none" w="med" len="med"/>
                      <a:tailEnd type="none" w="med" len="med"/>
                    </a:lnL>
                    <a:lnR cmpd="sng" algn="ctr" cap="flat" w="12700">
                      <a:solidFill>
                        <a:srgbClr val="C8C5BE"/>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c>
                  <a:txBody>
                    <a:bodyPr anchor="t" rtlCol="false"/>
                    <a:lstStyle/>
                    <a:p>
                      <a:pPr algn="l">
                        <a:lnSpc>
                          <a:spcPts val="6485"/>
                        </a:lnSpc>
                        <a:defRPr/>
                      </a:pPr>
                      <a:r>
                        <a:rPr lang="en-US" sz="5404">
                          <a:solidFill>
                            <a:srgbClr val="2B2B2B"/>
                          </a:solidFill>
                          <a:latin typeface="Arimo"/>
                          <a:ea typeface="Arimo"/>
                          <a:cs typeface="Arimo"/>
                          <a:sym typeface="Arimo"/>
                        </a:rPr>
                        <a:t>4</a:t>
                      </a:r>
                      <a:endParaRPr lang="en-US" sz="1100"/>
                    </a:p>
                  </a:txBody>
                  <a:tcPr marL="133347" marR="133347" marT="133347" marB="133347" anchor="ctr">
                    <a:lnL cmpd="sng" algn="ctr" cap="flat" w="12700">
                      <a:solidFill>
                        <a:srgbClr val="C8C5BE"/>
                      </a:solidFill>
                      <a:prstDash val="solid"/>
                      <a:round/>
                      <a:headEnd type="none" w="med" len="med"/>
                      <a:tailEnd type="none" w="med" len="med"/>
                    </a:lnL>
                    <a:lnR cmpd="sng" algn="ctr" cap="flat" w="12700">
                      <a:solidFill>
                        <a:srgbClr val="C8C5BE"/>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c>
                  <a:txBody>
                    <a:bodyPr anchor="t" rtlCol="false"/>
                    <a:lstStyle/>
                    <a:p>
                      <a:pPr algn="l">
                        <a:lnSpc>
                          <a:spcPts val="6485"/>
                        </a:lnSpc>
                        <a:defRPr/>
                      </a:pPr>
                      <a:r>
                        <a:rPr lang="en-US" sz="5404">
                          <a:solidFill>
                            <a:srgbClr val="2B2B2B"/>
                          </a:solidFill>
                          <a:latin typeface="Arimo"/>
                          <a:ea typeface="Arimo"/>
                          <a:cs typeface="Arimo"/>
                          <a:sym typeface="Arimo"/>
                        </a:rPr>
                        <a:t>27</a:t>
                      </a:r>
                      <a:endParaRPr lang="en-US" sz="1100"/>
                    </a:p>
                  </a:txBody>
                  <a:tcPr marL="133347" marR="133347" marT="133347" marB="133347" anchor="ctr">
                    <a:lnL cmpd="sng" algn="ctr" cap="flat" w="12700">
                      <a:solidFill>
                        <a:srgbClr val="C8C5BE"/>
                      </a:solidFill>
                      <a:prstDash val="solid"/>
                      <a:round/>
                      <a:headEnd type="none" w="med" len="med"/>
                      <a:tailEnd type="none" w="med" len="med"/>
                    </a:lnL>
                    <a:lnR cmpd="sng" algn="ctr" cap="flat" w="12700">
                      <a:solidFill>
                        <a:srgbClr val="C8C5BE"/>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r>
            </a:tbl>
          </a:graphicData>
        </a:graphic>
      </p:graphicFrame>
      <p:sp>
        <p:nvSpPr>
          <p:cNvPr name="TextBox 11" id="11"/>
          <p:cNvSpPr txBox="true"/>
          <p:nvPr/>
        </p:nvSpPr>
        <p:spPr>
          <a:xfrm rot="0">
            <a:off x="7915304" y="6920465"/>
            <a:ext cx="9471441" cy="2068487"/>
          </a:xfrm>
          <a:prstGeom prst="rect">
            <a:avLst/>
          </a:prstGeom>
        </p:spPr>
        <p:txBody>
          <a:bodyPr anchor="t" rtlCol="false" tIns="0" lIns="0" bIns="0" rIns="0">
            <a:spAutoFit/>
          </a:bodyPr>
          <a:lstStyle/>
          <a:p>
            <a:pPr algn="l">
              <a:lnSpc>
                <a:spcPts val="3152"/>
              </a:lnSpc>
            </a:pPr>
          </a:p>
          <a:p>
            <a:pPr algn="l">
              <a:lnSpc>
                <a:spcPts val="3152"/>
              </a:lnSpc>
            </a:pPr>
            <a:r>
              <a:rPr lang="en-US" sz="2101">
                <a:solidFill>
                  <a:srgbClr val="2B2B2B"/>
                </a:solidFill>
                <a:latin typeface="Arimo"/>
                <a:ea typeface="Arimo"/>
                <a:cs typeface="Arimo"/>
                <a:sym typeface="Arimo"/>
              </a:rPr>
              <a:t>Accuracy 76.3%</a:t>
            </a:r>
          </a:p>
          <a:p>
            <a:pPr algn="l">
              <a:lnSpc>
                <a:spcPts val="3152"/>
              </a:lnSpc>
            </a:pPr>
            <a:r>
              <a:rPr lang="en-US" sz="2101">
                <a:solidFill>
                  <a:srgbClr val="2B2B2B"/>
                </a:solidFill>
                <a:latin typeface="Arimo"/>
                <a:ea typeface="Arimo"/>
                <a:cs typeface="Arimo"/>
                <a:sym typeface="Arimo"/>
              </a:rPr>
              <a:t>Exacerbation precision 33.3%</a:t>
            </a:r>
          </a:p>
          <a:p>
            <a:pPr algn="l">
              <a:lnSpc>
                <a:spcPts val="3152"/>
              </a:lnSpc>
            </a:pPr>
            <a:r>
              <a:rPr lang="en-US" sz="2101">
                <a:solidFill>
                  <a:srgbClr val="2B2B2B"/>
                </a:solidFill>
                <a:latin typeface="Arimo"/>
                <a:ea typeface="Arimo"/>
                <a:cs typeface="Arimo"/>
                <a:sym typeface="Arimo"/>
              </a:rPr>
              <a:t>Recall 28.6% · F1 30.8%</a:t>
            </a:r>
          </a:p>
        </p:txBody>
      </p:sp>
      <p:grpSp>
        <p:nvGrpSpPr>
          <p:cNvPr name="Group 12" id="12"/>
          <p:cNvGrpSpPr/>
          <p:nvPr/>
        </p:nvGrpSpPr>
        <p:grpSpPr>
          <a:xfrm rot="0">
            <a:off x="17034653" y="9687354"/>
            <a:ext cx="1267187" cy="300276"/>
            <a:chOff x="0" y="0"/>
            <a:chExt cx="1689583" cy="400368"/>
          </a:xfrm>
        </p:grpSpPr>
        <p:sp>
          <p:nvSpPr>
            <p:cNvPr name="Freeform 13" id="13"/>
            <p:cNvSpPr/>
            <p:nvPr/>
          </p:nvSpPr>
          <p:spPr>
            <a:xfrm flipH="false" flipV="false" rot="0">
              <a:off x="0" y="0"/>
              <a:ext cx="1689584" cy="400363"/>
            </a:xfrm>
            <a:custGeom>
              <a:avLst/>
              <a:gdLst/>
              <a:ahLst/>
              <a:cxnLst/>
              <a:rect r="r" b="b" t="t" l="l"/>
              <a:pathLst>
                <a:path h="400363" w="1689584">
                  <a:moveTo>
                    <a:pt x="0" y="0"/>
                  </a:moveTo>
                  <a:lnTo>
                    <a:pt x="1689584" y="0"/>
                  </a:lnTo>
                  <a:lnTo>
                    <a:pt x="1689584" y="400363"/>
                  </a:lnTo>
                  <a:lnTo>
                    <a:pt x="0" y="400363"/>
                  </a:lnTo>
                  <a:close/>
                </a:path>
              </a:pathLst>
            </a:custGeom>
            <a:blipFill>
              <a:blip r:embed="rId3">
                <a:alphaModFix amt="0"/>
              </a:blip>
              <a:stretch>
                <a:fillRect l="0" t="-32228" r="0" b="-32229"/>
              </a:stretch>
            </a:blipFill>
          </p:spPr>
        </p:sp>
        <p:sp>
          <p:nvSpPr>
            <p:cNvPr name="TextBox 14" id="14"/>
            <p:cNvSpPr txBox="true"/>
            <p:nvPr/>
          </p:nvSpPr>
          <p:spPr>
            <a:xfrm>
              <a:off x="0" y="-57150"/>
              <a:ext cx="1689583" cy="457518"/>
            </a:xfrm>
            <a:prstGeom prst="rect">
              <a:avLst/>
            </a:prstGeom>
          </p:spPr>
          <p:txBody>
            <a:bodyPr anchor="ctr" rtlCol="false" tIns="0" lIns="0" bIns="0" rIns="0"/>
            <a:lstStyle/>
            <a:p>
              <a:pPr algn="l">
                <a:lnSpc>
                  <a:spcPts val="2364"/>
                </a:lnSpc>
              </a:pPr>
              <a:r>
                <a:rPr lang="en-US" sz="1576" spc="157">
                  <a:solidFill>
                    <a:srgbClr val="6B6965"/>
                  </a:solidFill>
                  <a:latin typeface="Arimo"/>
                  <a:ea typeface="Arimo"/>
                  <a:cs typeface="Arimo"/>
                  <a:sym typeface="Arimo"/>
                </a:rPr>
                <a:t>07 / 10</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5095" y="868918"/>
            <a:ext cx="17386744" cy="327793"/>
          </a:xfrm>
          <a:prstGeom prst="rect">
            <a:avLst/>
          </a:prstGeom>
        </p:spPr>
        <p:txBody>
          <a:bodyPr anchor="t" rtlCol="false" tIns="0" lIns="0" bIns="0" rIns="0">
            <a:spAutoFit/>
          </a:bodyPr>
          <a:lstStyle/>
          <a:p>
            <a:pPr algn="l">
              <a:lnSpc>
                <a:spcPts val="2213"/>
              </a:lnSpc>
            </a:pPr>
            <a:r>
              <a:rPr lang="en-US" sz="1576" spc="157">
                <a:solidFill>
                  <a:srgbClr val="6B6965"/>
                </a:solidFill>
                <a:latin typeface="Arimo"/>
                <a:ea typeface="Arimo"/>
                <a:cs typeface="Arimo"/>
                <a:sym typeface="Arimo"/>
              </a:rPr>
              <a:t>BASELINE COMPARISON</a:t>
            </a:r>
          </a:p>
        </p:txBody>
      </p:sp>
      <p:sp>
        <p:nvSpPr>
          <p:cNvPr name="TextBox 3" id="3"/>
          <p:cNvSpPr txBox="true"/>
          <p:nvPr/>
        </p:nvSpPr>
        <p:spPr>
          <a:xfrm rot="0">
            <a:off x="915095" y="1403823"/>
            <a:ext cx="16471659" cy="547840"/>
          </a:xfrm>
          <a:prstGeom prst="rect">
            <a:avLst/>
          </a:prstGeom>
        </p:spPr>
        <p:txBody>
          <a:bodyPr anchor="t" rtlCol="false" tIns="0" lIns="0" bIns="0" rIns="0">
            <a:spAutoFit/>
          </a:bodyPr>
          <a:lstStyle/>
          <a:p>
            <a:pPr algn="l">
              <a:lnSpc>
                <a:spcPts val="4539"/>
              </a:lnSpc>
            </a:pPr>
            <a:r>
              <a:rPr lang="en-US" sz="4203" spc="-63">
                <a:solidFill>
                  <a:srgbClr val="141414"/>
                </a:solidFill>
                <a:latin typeface="Arimo"/>
                <a:ea typeface="Arimo"/>
                <a:cs typeface="Arimo"/>
                <a:sym typeface="Arimo"/>
              </a:rPr>
              <a:t>The baseline beat the model on accuracy</a:t>
            </a:r>
          </a:p>
        </p:txBody>
      </p:sp>
      <p:graphicFrame>
        <p:nvGraphicFramePr>
          <p:cNvPr name="Table 4" id="4"/>
          <p:cNvGraphicFramePr>
            <a:graphicFrameLocks noGrp="true"/>
          </p:cNvGraphicFramePr>
          <p:nvPr/>
        </p:nvGraphicFramePr>
        <p:xfrm>
          <a:off x="915092" y="2214953"/>
          <a:ext cx="16453004" cy="5948247"/>
        </p:xfrm>
        <a:graphic>
          <a:graphicData uri="http://schemas.openxmlformats.org/drawingml/2006/table">
            <a:tbl>
              <a:tblPr/>
              <a:tblGrid>
                <a:gridCol w="5485369"/>
                <a:gridCol w="5356239"/>
                <a:gridCol w="5611397"/>
              </a:tblGrid>
              <a:tr h="801856">
                <a:tc>
                  <a:txBody>
                    <a:bodyPr anchor="t" rtlCol="false"/>
                    <a:lstStyle/>
                    <a:p>
                      <a:pPr algn="l">
                        <a:lnSpc>
                          <a:spcPts val="2521"/>
                        </a:lnSpc>
                        <a:defRPr/>
                      </a:pPr>
                      <a:r>
                        <a:rPr lang="en-US" sz="2101">
                          <a:solidFill>
                            <a:srgbClr val="6B6965"/>
                          </a:solidFill>
                          <a:latin typeface="Arimo"/>
                          <a:ea typeface="Arimo"/>
                          <a:cs typeface="Arimo"/>
                          <a:sym typeface="Arimo"/>
                        </a:rPr>
                        <a:t>Naive Bayes</a:t>
                      </a:r>
                      <a:endParaRPr lang="en-US" sz="1100"/>
                    </a:p>
                  </a:txBody>
                  <a:tcPr marL="146301" marR="146301" marT="146301" marB="146301"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c>
                  <a:txBody>
                    <a:bodyPr anchor="t" rtlCol="false"/>
                    <a:lstStyle/>
                    <a:p>
                      <a:pPr algn="l">
                        <a:lnSpc>
                          <a:spcPts val="2521"/>
                        </a:lnSpc>
                        <a:defRPr/>
                      </a:pPr>
                      <a:r>
                        <a:rPr lang="en-US" sz="2101">
                          <a:solidFill>
                            <a:srgbClr val="6B6965"/>
                          </a:solidFill>
                          <a:latin typeface="Arimo"/>
                          <a:ea typeface="Arimo"/>
                          <a:cs typeface="Arimo"/>
                          <a:sym typeface="Arimo"/>
                        </a:rPr>
                        <a:t>Majority-class baseline</a:t>
                      </a:r>
                      <a:endParaRPr lang="en-US" sz="1100"/>
                    </a:p>
                  </a:txBody>
                  <a:tcPr marL="146301" marR="146301" marT="146301" marB="146301"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c>
                  <a:txBody>
                    <a:bodyPr anchor="t" rtlCol="false"/>
                    <a:lstStyle/>
                    <a:p>
                      <a:pPr algn="l">
                        <a:lnSpc>
                          <a:spcPts val="1679"/>
                        </a:lnSpc>
                        <a:defRPr/>
                      </a:pPr>
                      <a:endParaRPr lang="en-US" sz="1100"/>
                    </a:p>
                  </a:txBody>
                  <a:tcPr marL="146301" marR="146301" marT="146301" marB="146301"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r>
              <a:tr h="2093925">
                <a:tc>
                  <a:txBody>
                    <a:bodyPr anchor="t" rtlCol="false"/>
                    <a:lstStyle/>
                    <a:p>
                      <a:pPr algn="l">
                        <a:lnSpc>
                          <a:spcPts val="1679"/>
                        </a:lnSpc>
                        <a:defRPr/>
                      </a:pPr>
                      <a:endParaRPr lang="en-US" sz="1100"/>
                    </a:p>
                  </a:txBody>
                  <a:tcPr marL="146301" marR="146301" marT="146301" marB="146301"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c>
                  <a:txBody>
                    <a:bodyPr anchor="t" rtlCol="false"/>
                    <a:lstStyle/>
                    <a:p>
                      <a:pPr algn="l">
                        <a:lnSpc>
                          <a:spcPts val="1891"/>
                        </a:lnSpc>
                        <a:defRPr/>
                      </a:pPr>
                      <a:r>
                        <a:rPr lang="en-US" sz="1576" spc="157">
                          <a:solidFill>
                            <a:srgbClr val="6B6965"/>
                          </a:solidFill>
                          <a:latin typeface="Arimo"/>
                          <a:ea typeface="Arimo"/>
                          <a:cs typeface="Arimo"/>
                          <a:sym typeface="Arimo"/>
                        </a:rPr>
                        <a:t>ACCURACY</a:t>
                      </a:r>
                      <a:endParaRPr lang="en-US" sz="1100"/>
                    </a:p>
                    <a:p>
                      <a:pPr algn="l">
                        <a:lnSpc>
                          <a:spcPts val="7926"/>
                        </a:lnSpc>
                      </a:pPr>
                      <a:r>
                        <a:rPr lang="en-US" sz="6605" spc="157">
                          <a:solidFill>
                            <a:srgbClr val="2B2B2B"/>
                          </a:solidFill>
                          <a:latin typeface="Arimo"/>
                          <a:ea typeface="Arimo"/>
                          <a:cs typeface="Arimo"/>
                          <a:sym typeface="Arimo"/>
                        </a:rPr>
                        <a:t>76.3%</a:t>
                      </a:r>
                    </a:p>
                  </a:txBody>
                  <a:tcPr marL="146301" marR="146301" marT="146301" marB="146301"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c>
                  <a:txBody>
                    <a:bodyPr anchor="t" rtlCol="false"/>
                    <a:lstStyle/>
                    <a:p>
                      <a:pPr algn="l">
                        <a:lnSpc>
                          <a:spcPts val="1891"/>
                        </a:lnSpc>
                        <a:defRPr/>
                      </a:pPr>
                      <a:r>
                        <a:rPr lang="en-US" sz="1576" spc="157">
                          <a:solidFill>
                            <a:srgbClr val="6B6965"/>
                          </a:solidFill>
                          <a:latin typeface="Arimo"/>
                          <a:ea typeface="Arimo"/>
                          <a:cs typeface="Arimo"/>
                          <a:sym typeface="Arimo"/>
                        </a:rPr>
                        <a:t>ACCURACY</a:t>
                      </a:r>
                      <a:endParaRPr lang="en-US" sz="1100"/>
                    </a:p>
                    <a:p>
                      <a:pPr algn="l">
                        <a:lnSpc>
                          <a:spcPts val="7926"/>
                        </a:lnSpc>
                      </a:pPr>
                      <a:r>
                        <a:rPr lang="en-US" sz="6605" spc="157">
                          <a:solidFill>
                            <a:srgbClr val="2B2B2B"/>
                          </a:solidFill>
                          <a:latin typeface="Arimo"/>
                          <a:ea typeface="Arimo"/>
                          <a:cs typeface="Arimo"/>
                          <a:sym typeface="Arimo"/>
                        </a:rPr>
                        <a:t>81.6%</a:t>
                      </a:r>
                    </a:p>
                  </a:txBody>
                  <a:tcPr marL="146301" marR="146301" marT="146301" marB="146301"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r>
              <a:tr h="1872724">
                <a:tc>
                  <a:txBody>
                    <a:bodyPr anchor="t" rtlCol="false"/>
                    <a:lstStyle/>
                    <a:p>
                      <a:pPr algn="l">
                        <a:lnSpc>
                          <a:spcPts val="1891"/>
                        </a:lnSpc>
                        <a:defRPr/>
                      </a:pPr>
                      <a:endParaRPr lang="en-US" sz="1100"/>
                    </a:p>
                  </a:txBody>
                  <a:tcPr marL="146301" marR="146301" marT="146301" marB="146301"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c>
                  <a:txBody>
                    <a:bodyPr anchor="t" rtlCol="false"/>
                    <a:lstStyle/>
                    <a:p>
                      <a:pPr algn="l">
                        <a:lnSpc>
                          <a:spcPts val="1891"/>
                        </a:lnSpc>
                        <a:defRPr/>
                      </a:pPr>
                      <a:r>
                        <a:rPr lang="en-US" sz="1576" spc="157">
                          <a:solidFill>
                            <a:srgbClr val="6B6965"/>
                          </a:solidFill>
                          <a:latin typeface="Arimo"/>
                          <a:ea typeface="Arimo"/>
                          <a:cs typeface="Arimo"/>
                          <a:sym typeface="Arimo"/>
                        </a:rPr>
                        <a:t>EXACERBATION RECALL</a:t>
                      </a:r>
                      <a:endParaRPr lang="en-US" sz="1100"/>
                    </a:p>
                    <a:p>
                      <a:pPr algn="l">
                        <a:lnSpc>
                          <a:spcPts val="6480"/>
                        </a:lnSpc>
                      </a:pPr>
                      <a:r>
                        <a:rPr lang="en-US" sz="5400" spc="540">
                          <a:solidFill>
                            <a:srgbClr val="2563EB"/>
                          </a:solidFill>
                          <a:latin typeface="Arimo"/>
                          <a:ea typeface="Arimo"/>
                          <a:cs typeface="Arimo"/>
                          <a:sym typeface="Arimo"/>
                        </a:rPr>
                        <a:t>28.6</a:t>
                      </a:r>
                      <a:r>
                        <a:rPr lang="en-US" sz="5400" spc="540">
                          <a:solidFill>
                            <a:srgbClr val="2563EB"/>
                          </a:solidFill>
                          <a:latin typeface="Arimo"/>
                          <a:ea typeface="Arimo"/>
                          <a:cs typeface="Arimo"/>
                          <a:sym typeface="Arimo"/>
                        </a:rPr>
                        <a:t>%</a:t>
                      </a:r>
                    </a:p>
                  </a:txBody>
                  <a:tcPr marL="146301" marR="146301" marT="146301" marB="146301"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c>
                  <a:txBody>
                    <a:bodyPr anchor="t" rtlCol="false"/>
                    <a:lstStyle/>
                    <a:p>
                      <a:pPr algn="l">
                        <a:lnSpc>
                          <a:spcPts val="2239"/>
                        </a:lnSpc>
                        <a:defRPr/>
                      </a:pPr>
                      <a:r>
                        <a:rPr lang="en-US" sz="1599">
                          <a:solidFill>
                            <a:srgbClr val="6B6965"/>
                          </a:solidFill>
                          <a:latin typeface="Arimo"/>
                          <a:ea typeface="Arimo"/>
                          <a:cs typeface="Arimo"/>
                          <a:sym typeface="Arimo"/>
                        </a:rPr>
                        <a:t>EXACERBATION RECALL</a:t>
                      </a:r>
                      <a:endParaRPr lang="en-US" sz="1100"/>
                    </a:p>
                    <a:p>
                      <a:pPr algn="l">
                        <a:lnSpc>
                          <a:spcPts val="7559"/>
                        </a:lnSpc>
                      </a:pPr>
                      <a:r>
                        <a:rPr lang="en-US" sz="5399">
                          <a:solidFill>
                            <a:srgbClr val="2B2B2B"/>
                          </a:solidFill>
                          <a:latin typeface="Arimo"/>
                          <a:ea typeface="Arimo"/>
                          <a:cs typeface="Arimo"/>
                          <a:sym typeface="Arimo"/>
                        </a:rPr>
                        <a:t>0%</a:t>
                      </a:r>
                    </a:p>
                  </a:txBody>
                  <a:tcPr marL="146301" marR="146301" marT="146301" marB="146301"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C8C5BE"/>
                      </a:solidFill>
                      <a:prstDash val="solid"/>
                      <a:round/>
                      <a:headEnd type="none" w="med" len="med"/>
                      <a:tailEnd type="none" w="med" len="med"/>
                    </a:lnB>
                  </a:tcPr>
                </a:tc>
              </a:tr>
              <a:tr h="1179741">
                <a:tc>
                  <a:txBody>
                    <a:bodyPr anchor="t" rtlCol="false"/>
                    <a:lstStyle/>
                    <a:p>
                      <a:pPr algn="l">
                        <a:lnSpc>
                          <a:spcPts val="1679"/>
                        </a:lnSpc>
                        <a:defRPr/>
                      </a:pPr>
                      <a:endParaRPr lang="en-US" sz="1100"/>
                    </a:p>
                  </a:txBody>
                  <a:tcPr marL="146301" marR="146301" marT="146301" marB="146301"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FFFFFF"/>
                      </a:solidFill>
                      <a:prstDash val="solid"/>
                      <a:round/>
                      <a:headEnd type="none" w="med" len="med"/>
                      <a:tailEnd type="none" w="med" len="med"/>
                    </a:lnB>
                  </a:tcPr>
                </a:tc>
                <a:tc>
                  <a:txBody>
                    <a:bodyPr anchor="t" rtlCol="false"/>
                    <a:lstStyle/>
                    <a:p>
                      <a:pPr algn="l">
                        <a:lnSpc>
                          <a:spcPts val="2521"/>
                        </a:lnSpc>
                        <a:defRPr/>
                      </a:pPr>
                      <a:r>
                        <a:rPr lang="en-US" sz="2101">
                          <a:solidFill>
                            <a:srgbClr val="2B2B2B"/>
                          </a:solidFill>
                          <a:latin typeface="Arimo"/>
                          <a:ea typeface="Arimo"/>
                          <a:cs typeface="Arimo"/>
                          <a:sym typeface="Arimo"/>
                        </a:rPr>
                        <a:t>Detects some exacerbations, but misses most.</a:t>
                      </a:r>
                      <a:endParaRPr lang="en-US" sz="1100"/>
                    </a:p>
                  </a:txBody>
                  <a:tcPr marL="146301" marR="146301" marT="146301" marB="146301"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FFFFFF"/>
                      </a:solidFill>
                      <a:prstDash val="solid"/>
                      <a:round/>
                      <a:headEnd type="none" w="med" len="med"/>
                      <a:tailEnd type="none" w="med" len="med"/>
                    </a:lnB>
                  </a:tcPr>
                </a:tc>
                <a:tc>
                  <a:txBody>
                    <a:bodyPr anchor="t" rtlCol="false"/>
                    <a:lstStyle/>
                    <a:p>
                      <a:pPr algn="l">
                        <a:lnSpc>
                          <a:spcPts val="2521"/>
                        </a:lnSpc>
                        <a:defRPr/>
                      </a:pPr>
                      <a:r>
                        <a:rPr lang="en-US" sz="2101">
                          <a:solidFill>
                            <a:srgbClr val="2B2B2B"/>
                          </a:solidFill>
                          <a:latin typeface="Arimo"/>
                          <a:ea typeface="Arimo"/>
                          <a:cs typeface="Arimo"/>
                          <a:sym typeface="Arimo"/>
                        </a:rPr>
                        <a:t>Predicts No Exacerbation every time; imbalance inflates accuracy.</a:t>
                      </a:r>
                      <a:endParaRPr lang="en-US" sz="1100"/>
                    </a:p>
                  </a:txBody>
                  <a:tcPr marL="146301" marR="146301" marT="146301" marB="146301"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C8C5BE"/>
                      </a:solidFill>
                      <a:prstDash val="solid"/>
                      <a:round/>
                      <a:headEnd type="none" w="med" len="med"/>
                      <a:tailEnd type="none" w="med" len="med"/>
                    </a:lnT>
                    <a:lnB cmpd="sng" algn="ctr" cap="flat" w="12700">
                      <a:solidFill>
                        <a:srgbClr val="FFFFFF"/>
                      </a:solidFill>
                      <a:prstDash val="solid"/>
                      <a:round/>
                      <a:headEnd type="none" w="med" len="med"/>
                      <a:tailEnd type="none" w="med" len="med"/>
                    </a:lnB>
                  </a:tcPr>
                </a:tc>
              </a:tr>
            </a:tbl>
          </a:graphicData>
        </a:graphic>
      </p:graphicFrame>
      <p:sp>
        <p:nvSpPr>
          <p:cNvPr name="TextBox 5" id="5"/>
          <p:cNvSpPr txBox="true"/>
          <p:nvPr/>
        </p:nvSpPr>
        <p:spPr>
          <a:xfrm rot="0">
            <a:off x="915095" y="8452799"/>
            <a:ext cx="16471659" cy="1172442"/>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Setting both class priors to 0.5 changed no predictions or metrics.</a:t>
            </a:r>
          </a:p>
          <a:p>
            <a:pPr algn="l">
              <a:lnSpc>
                <a:spcPts val="3152"/>
              </a:lnSpc>
            </a:pPr>
            <a:r>
              <a:rPr lang="en-US" sz="2101">
                <a:solidFill>
                  <a:srgbClr val="2B2B2B"/>
                </a:solidFill>
                <a:latin typeface="Arimo"/>
                <a:ea typeface="Arimo"/>
                <a:cs typeface="Arimo"/>
                <a:sym typeface="Arimo"/>
              </a:rPr>
              <a:t>No accuracy gain over the baseline, limited exacerbation detection.</a:t>
            </a:r>
          </a:p>
        </p:txBody>
      </p:sp>
      <p:grpSp>
        <p:nvGrpSpPr>
          <p:cNvPr name="Group 6" id="6"/>
          <p:cNvGrpSpPr/>
          <p:nvPr/>
        </p:nvGrpSpPr>
        <p:grpSpPr>
          <a:xfrm rot="0">
            <a:off x="17034653" y="9687354"/>
            <a:ext cx="1267187" cy="300276"/>
            <a:chOff x="0" y="0"/>
            <a:chExt cx="1689583" cy="400368"/>
          </a:xfrm>
        </p:grpSpPr>
        <p:sp>
          <p:nvSpPr>
            <p:cNvPr name="Freeform 7" id="7"/>
            <p:cNvSpPr/>
            <p:nvPr/>
          </p:nvSpPr>
          <p:spPr>
            <a:xfrm flipH="false" flipV="false" rot="0">
              <a:off x="0" y="0"/>
              <a:ext cx="1689584" cy="400363"/>
            </a:xfrm>
            <a:custGeom>
              <a:avLst/>
              <a:gdLst/>
              <a:ahLst/>
              <a:cxnLst/>
              <a:rect r="r" b="b" t="t" l="l"/>
              <a:pathLst>
                <a:path h="400363" w="1689584">
                  <a:moveTo>
                    <a:pt x="0" y="0"/>
                  </a:moveTo>
                  <a:lnTo>
                    <a:pt x="1689584" y="0"/>
                  </a:lnTo>
                  <a:lnTo>
                    <a:pt x="1689584" y="400363"/>
                  </a:lnTo>
                  <a:lnTo>
                    <a:pt x="0" y="400363"/>
                  </a:lnTo>
                  <a:close/>
                </a:path>
              </a:pathLst>
            </a:custGeom>
            <a:blipFill>
              <a:blip r:embed="rId3">
                <a:alphaModFix amt="0"/>
              </a:blip>
              <a:stretch>
                <a:fillRect l="0" t="-32228" r="0" b="-32229"/>
              </a:stretch>
            </a:blipFill>
          </p:spPr>
        </p:sp>
        <p:sp>
          <p:nvSpPr>
            <p:cNvPr name="TextBox 8" id="8"/>
            <p:cNvSpPr txBox="true"/>
            <p:nvPr/>
          </p:nvSpPr>
          <p:spPr>
            <a:xfrm>
              <a:off x="0" y="-57150"/>
              <a:ext cx="1689583" cy="457518"/>
            </a:xfrm>
            <a:prstGeom prst="rect">
              <a:avLst/>
            </a:prstGeom>
          </p:spPr>
          <p:txBody>
            <a:bodyPr anchor="ctr" rtlCol="false" tIns="0" lIns="0" bIns="0" rIns="0"/>
            <a:lstStyle/>
            <a:p>
              <a:pPr algn="l">
                <a:lnSpc>
                  <a:spcPts val="2364"/>
                </a:lnSpc>
              </a:pPr>
              <a:r>
                <a:rPr lang="en-US" sz="1576" spc="157">
                  <a:solidFill>
                    <a:srgbClr val="6B6965"/>
                  </a:solidFill>
                  <a:latin typeface="Arimo"/>
                  <a:ea typeface="Arimo"/>
                  <a:cs typeface="Arimo"/>
                  <a:sym typeface="Arimo"/>
                </a:rPr>
                <a:t>08 / 10</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5095" y="3151708"/>
            <a:ext cx="4117915" cy="357426"/>
          </a:xfrm>
          <a:prstGeom prst="rect">
            <a:avLst/>
          </a:prstGeom>
        </p:spPr>
        <p:txBody>
          <a:bodyPr anchor="t" rtlCol="false" tIns="0" lIns="0" bIns="0" rIns="0">
            <a:spAutoFit/>
          </a:bodyPr>
          <a:lstStyle/>
          <a:p>
            <a:pPr algn="l">
              <a:lnSpc>
                <a:spcPts val="2364"/>
              </a:lnSpc>
            </a:pPr>
            <a:r>
              <a:rPr lang="en-US" sz="1576" spc="126">
                <a:solidFill>
                  <a:srgbClr val="000000"/>
                </a:solidFill>
                <a:latin typeface="Arimo"/>
                <a:ea typeface="Arimo"/>
                <a:cs typeface="Arimo"/>
                <a:sym typeface="Arimo"/>
              </a:rPr>
              <a:t>TEST OBSERVATIONS</a:t>
            </a:r>
          </a:p>
        </p:txBody>
      </p:sp>
      <p:sp>
        <p:nvSpPr>
          <p:cNvPr name="TextBox 3" id="3"/>
          <p:cNvSpPr txBox="true"/>
          <p:nvPr/>
        </p:nvSpPr>
        <p:spPr>
          <a:xfrm rot="0">
            <a:off x="5376167" y="3151708"/>
            <a:ext cx="3774758" cy="357426"/>
          </a:xfrm>
          <a:prstGeom prst="rect">
            <a:avLst/>
          </a:prstGeom>
        </p:spPr>
        <p:txBody>
          <a:bodyPr anchor="t" rtlCol="false" tIns="0" lIns="0" bIns="0" rIns="0">
            <a:spAutoFit/>
          </a:bodyPr>
          <a:lstStyle/>
          <a:p>
            <a:pPr algn="l">
              <a:lnSpc>
                <a:spcPts val="2364"/>
              </a:lnSpc>
            </a:pPr>
            <a:r>
              <a:rPr lang="en-US" sz="1576" spc="126">
                <a:solidFill>
                  <a:srgbClr val="000000"/>
                </a:solidFill>
                <a:latin typeface="Arimo"/>
                <a:ea typeface="Arimo"/>
                <a:cs typeface="Arimo"/>
                <a:sym typeface="Arimo"/>
              </a:rPr>
              <a:t>ACTUAL EXACERBATIONS</a:t>
            </a:r>
          </a:p>
        </p:txBody>
      </p:sp>
      <p:sp>
        <p:nvSpPr>
          <p:cNvPr name="TextBox 4" id="4"/>
          <p:cNvSpPr txBox="true"/>
          <p:nvPr/>
        </p:nvSpPr>
        <p:spPr>
          <a:xfrm rot="0">
            <a:off x="9494082" y="3151708"/>
            <a:ext cx="3774758" cy="357426"/>
          </a:xfrm>
          <a:prstGeom prst="rect">
            <a:avLst/>
          </a:prstGeom>
        </p:spPr>
        <p:txBody>
          <a:bodyPr anchor="t" rtlCol="false" tIns="0" lIns="0" bIns="0" rIns="0">
            <a:spAutoFit/>
          </a:bodyPr>
          <a:lstStyle/>
          <a:p>
            <a:pPr algn="l">
              <a:lnSpc>
                <a:spcPts val="2364"/>
              </a:lnSpc>
            </a:pPr>
            <a:r>
              <a:rPr lang="en-US" sz="1576" spc="126">
                <a:solidFill>
                  <a:srgbClr val="000000"/>
                </a:solidFill>
                <a:latin typeface="Arimo"/>
                <a:ea typeface="Arimo"/>
                <a:cs typeface="Arimo"/>
                <a:sym typeface="Arimo"/>
              </a:rPr>
              <a:t>EXACERBATION RECALL</a:t>
            </a:r>
          </a:p>
        </p:txBody>
      </p:sp>
      <p:grpSp>
        <p:nvGrpSpPr>
          <p:cNvPr name="Group 5" id="5"/>
          <p:cNvGrpSpPr/>
          <p:nvPr/>
        </p:nvGrpSpPr>
        <p:grpSpPr>
          <a:xfrm rot="0">
            <a:off x="5023475" y="2248319"/>
            <a:ext cx="19069" cy="1260815"/>
            <a:chOff x="0" y="0"/>
            <a:chExt cx="25425" cy="1681086"/>
          </a:xfrm>
        </p:grpSpPr>
        <p:sp>
          <p:nvSpPr>
            <p:cNvPr name="Freeform 6" id="6"/>
            <p:cNvSpPr/>
            <p:nvPr/>
          </p:nvSpPr>
          <p:spPr>
            <a:xfrm flipH="false" flipV="false" rot="0">
              <a:off x="0" y="0"/>
              <a:ext cx="25400" cy="1681099"/>
            </a:xfrm>
            <a:custGeom>
              <a:avLst/>
              <a:gdLst/>
              <a:ahLst/>
              <a:cxnLst/>
              <a:rect r="r" b="b" t="t" l="l"/>
              <a:pathLst>
                <a:path h="1681099" w="25400">
                  <a:moveTo>
                    <a:pt x="0" y="0"/>
                  </a:moveTo>
                  <a:lnTo>
                    <a:pt x="25400" y="0"/>
                  </a:lnTo>
                  <a:lnTo>
                    <a:pt x="25400" y="1681099"/>
                  </a:lnTo>
                  <a:lnTo>
                    <a:pt x="0" y="1681099"/>
                  </a:lnTo>
                  <a:close/>
                </a:path>
              </a:pathLst>
            </a:custGeom>
            <a:solidFill>
              <a:srgbClr val="C8C5BE"/>
            </a:solidFill>
          </p:spPr>
        </p:sp>
      </p:grpSp>
      <p:grpSp>
        <p:nvGrpSpPr>
          <p:cNvPr name="Group 7" id="7"/>
          <p:cNvGrpSpPr/>
          <p:nvPr/>
        </p:nvGrpSpPr>
        <p:grpSpPr>
          <a:xfrm rot="0">
            <a:off x="9141390" y="2248319"/>
            <a:ext cx="19069" cy="1260815"/>
            <a:chOff x="0" y="0"/>
            <a:chExt cx="25425" cy="1681086"/>
          </a:xfrm>
        </p:grpSpPr>
        <p:sp>
          <p:nvSpPr>
            <p:cNvPr name="Freeform 8" id="8"/>
            <p:cNvSpPr/>
            <p:nvPr/>
          </p:nvSpPr>
          <p:spPr>
            <a:xfrm flipH="false" flipV="false" rot="0">
              <a:off x="0" y="0"/>
              <a:ext cx="25400" cy="1681099"/>
            </a:xfrm>
            <a:custGeom>
              <a:avLst/>
              <a:gdLst/>
              <a:ahLst/>
              <a:cxnLst/>
              <a:rect r="r" b="b" t="t" l="l"/>
              <a:pathLst>
                <a:path h="1681099" w="25400">
                  <a:moveTo>
                    <a:pt x="0" y="0"/>
                  </a:moveTo>
                  <a:lnTo>
                    <a:pt x="25400" y="0"/>
                  </a:lnTo>
                  <a:lnTo>
                    <a:pt x="25400" y="1681099"/>
                  </a:lnTo>
                  <a:lnTo>
                    <a:pt x="0" y="1681099"/>
                  </a:lnTo>
                  <a:close/>
                </a:path>
              </a:pathLst>
            </a:custGeom>
            <a:solidFill>
              <a:srgbClr val="C8C5BE"/>
            </a:solidFill>
          </p:spPr>
        </p:sp>
      </p:grpSp>
      <p:grpSp>
        <p:nvGrpSpPr>
          <p:cNvPr name="Group 9" id="9"/>
          <p:cNvGrpSpPr/>
          <p:nvPr/>
        </p:nvGrpSpPr>
        <p:grpSpPr>
          <a:xfrm rot="0">
            <a:off x="13259305" y="2248319"/>
            <a:ext cx="19069" cy="1260815"/>
            <a:chOff x="0" y="0"/>
            <a:chExt cx="25425" cy="1681086"/>
          </a:xfrm>
        </p:grpSpPr>
        <p:sp>
          <p:nvSpPr>
            <p:cNvPr name="Freeform 10" id="10"/>
            <p:cNvSpPr/>
            <p:nvPr/>
          </p:nvSpPr>
          <p:spPr>
            <a:xfrm flipH="false" flipV="false" rot="0">
              <a:off x="0" y="0"/>
              <a:ext cx="25400" cy="1681099"/>
            </a:xfrm>
            <a:custGeom>
              <a:avLst/>
              <a:gdLst/>
              <a:ahLst/>
              <a:cxnLst/>
              <a:rect r="r" b="b" t="t" l="l"/>
              <a:pathLst>
                <a:path h="1681099" w="25400">
                  <a:moveTo>
                    <a:pt x="0" y="0"/>
                  </a:moveTo>
                  <a:lnTo>
                    <a:pt x="25400" y="0"/>
                  </a:lnTo>
                  <a:lnTo>
                    <a:pt x="25400" y="1681099"/>
                  </a:lnTo>
                  <a:lnTo>
                    <a:pt x="0" y="1681099"/>
                  </a:lnTo>
                  <a:close/>
                </a:path>
              </a:pathLst>
            </a:custGeom>
            <a:solidFill>
              <a:srgbClr val="C8C5BE"/>
            </a:solidFill>
          </p:spPr>
        </p:sp>
      </p:grpSp>
      <p:grpSp>
        <p:nvGrpSpPr>
          <p:cNvPr name="Group 11" id="11"/>
          <p:cNvGrpSpPr/>
          <p:nvPr/>
        </p:nvGrpSpPr>
        <p:grpSpPr>
          <a:xfrm rot="0">
            <a:off x="17034653" y="9687354"/>
            <a:ext cx="1267187" cy="300276"/>
            <a:chOff x="0" y="0"/>
            <a:chExt cx="1689583" cy="400368"/>
          </a:xfrm>
        </p:grpSpPr>
        <p:sp>
          <p:nvSpPr>
            <p:cNvPr name="Freeform 12" id="12"/>
            <p:cNvSpPr/>
            <p:nvPr/>
          </p:nvSpPr>
          <p:spPr>
            <a:xfrm flipH="false" flipV="false" rot="0">
              <a:off x="0" y="0"/>
              <a:ext cx="1689584" cy="400363"/>
            </a:xfrm>
            <a:custGeom>
              <a:avLst/>
              <a:gdLst/>
              <a:ahLst/>
              <a:cxnLst/>
              <a:rect r="r" b="b" t="t" l="l"/>
              <a:pathLst>
                <a:path h="400363" w="1689584">
                  <a:moveTo>
                    <a:pt x="0" y="0"/>
                  </a:moveTo>
                  <a:lnTo>
                    <a:pt x="1689584" y="0"/>
                  </a:lnTo>
                  <a:lnTo>
                    <a:pt x="1689584" y="400363"/>
                  </a:lnTo>
                  <a:lnTo>
                    <a:pt x="0" y="400363"/>
                  </a:lnTo>
                  <a:close/>
                </a:path>
              </a:pathLst>
            </a:custGeom>
            <a:blipFill>
              <a:blip r:embed="rId3">
                <a:alphaModFix amt="0"/>
              </a:blip>
              <a:stretch>
                <a:fillRect l="0" t="-32228" r="0" b="-32229"/>
              </a:stretch>
            </a:blipFill>
          </p:spPr>
        </p:sp>
        <p:sp>
          <p:nvSpPr>
            <p:cNvPr name="TextBox 13" id="13"/>
            <p:cNvSpPr txBox="true"/>
            <p:nvPr/>
          </p:nvSpPr>
          <p:spPr>
            <a:xfrm>
              <a:off x="0" y="-57150"/>
              <a:ext cx="1689583" cy="457518"/>
            </a:xfrm>
            <a:prstGeom prst="rect">
              <a:avLst/>
            </a:prstGeom>
          </p:spPr>
          <p:txBody>
            <a:bodyPr anchor="ctr" rtlCol="false" tIns="0" lIns="0" bIns="0" rIns="0"/>
            <a:lstStyle/>
            <a:p>
              <a:pPr algn="l">
                <a:lnSpc>
                  <a:spcPts val="2364"/>
                </a:lnSpc>
              </a:pPr>
              <a:r>
                <a:rPr lang="en-US" sz="1576" spc="157">
                  <a:solidFill>
                    <a:srgbClr val="6B6965"/>
                  </a:solidFill>
                  <a:latin typeface="Arimo"/>
                  <a:ea typeface="Arimo"/>
                  <a:cs typeface="Arimo"/>
                  <a:sym typeface="Arimo"/>
                </a:rPr>
                <a:t>09 / 10</a:t>
              </a:r>
            </a:p>
          </p:txBody>
        </p:sp>
      </p:grpSp>
      <p:sp>
        <p:nvSpPr>
          <p:cNvPr name="Freeform 14" id="14"/>
          <p:cNvSpPr/>
          <p:nvPr/>
        </p:nvSpPr>
        <p:spPr>
          <a:xfrm flipH="false" flipV="false" rot="0">
            <a:off x="915095" y="3690109"/>
            <a:ext cx="11649584" cy="6544027"/>
          </a:xfrm>
          <a:custGeom>
            <a:avLst/>
            <a:gdLst/>
            <a:ahLst/>
            <a:cxnLst/>
            <a:rect r="r" b="b" t="t" l="l"/>
            <a:pathLst>
              <a:path h="6544027" w="11649584">
                <a:moveTo>
                  <a:pt x="0" y="0"/>
                </a:moveTo>
                <a:lnTo>
                  <a:pt x="11649584" y="0"/>
                </a:lnTo>
                <a:lnTo>
                  <a:pt x="11649584" y="6544027"/>
                </a:lnTo>
                <a:lnTo>
                  <a:pt x="0" y="6544027"/>
                </a:lnTo>
                <a:lnTo>
                  <a:pt x="0" y="0"/>
                </a:lnTo>
                <a:close/>
              </a:path>
            </a:pathLst>
          </a:custGeom>
          <a:blipFill>
            <a:blip r:embed="rId4"/>
            <a:stretch>
              <a:fillRect l="0" t="0" r="0" b="0"/>
            </a:stretch>
          </a:blipFill>
        </p:spPr>
      </p:sp>
      <p:sp>
        <p:nvSpPr>
          <p:cNvPr name="TextBox 15" id="15"/>
          <p:cNvSpPr txBox="true"/>
          <p:nvPr/>
        </p:nvSpPr>
        <p:spPr>
          <a:xfrm rot="0">
            <a:off x="915095" y="868918"/>
            <a:ext cx="17386744" cy="327793"/>
          </a:xfrm>
          <a:prstGeom prst="rect">
            <a:avLst/>
          </a:prstGeom>
        </p:spPr>
        <p:txBody>
          <a:bodyPr anchor="t" rtlCol="false" tIns="0" lIns="0" bIns="0" rIns="0">
            <a:spAutoFit/>
          </a:bodyPr>
          <a:lstStyle/>
          <a:p>
            <a:pPr algn="l">
              <a:lnSpc>
                <a:spcPts val="2213"/>
              </a:lnSpc>
            </a:pPr>
            <a:r>
              <a:rPr lang="en-US" sz="1576" spc="157">
                <a:solidFill>
                  <a:srgbClr val="6B6965"/>
                </a:solidFill>
                <a:latin typeface="Arimo"/>
                <a:ea typeface="Arimo"/>
                <a:cs typeface="Arimo"/>
                <a:sym typeface="Arimo"/>
              </a:rPr>
              <a:t>REPORTING</a:t>
            </a:r>
          </a:p>
        </p:txBody>
      </p:sp>
      <p:sp>
        <p:nvSpPr>
          <p:cNvPr name="TextBox 16" id="16"/>
          <p:cNvSpPr txBox="true"/>
          <p:nvPr/>
        </p:nvSpPr>
        <p:spPr>
          <a:xfrm rot="0">
            <a:off x="915095" y="1403823"/>
            <a:ext cx="16471659" cy="547840"/>
          </a:xfrm>
          <a:prstGeom prst="rect">
            <a:avLst/>
          </a:prstGeom>
        </p:spPr>
        <p:txBody>
          <a:bodyPr anchor="t" rtlCol="false" tIns="0" lIns="0" bIns="0" rIns="0">
            <a:spAutoFit/>
          </a:bodyPr>
          <a:lstStyle/>
          <a:p>
            <a:pPr algn="l">
              <a:lnSpc>
                <a:spcPts val="4539"/>
              </a:lnSpc>
            </a:pPr>
            <a:r>
              <a:rPr lang="en-US" sz="4203" spc="-63">
                <a:solidFill>
                  <a:srgbClr val="141414"/>
                </a:solidFill>
                <a:latin typeface="Arimo"/>
                <a:ea typeface="Arimo"/>
                <a:cs typeface="Arimo"/>
                <a:sym typeface="Arimo"/>
              </a:rPr>
              <a:t>Power BI dashboard</a:t>
            </a:r>
          </a:p>
        </p:txBody>
      </p:sp>
      <p:sp>
        <p:nvSpPr>
          <p:cNvPr name="TextBox 17" id="17"/>
          <p:cNvSpPr txBox="true"/>
          <p:nvPr/>
        </p:nvSpPr>
        <p:spPr>
          <a:xfrm rot="0">
            <a:off x="915095" y="2373906"/>
            <a:ext cx="3774758" cy="555469"/>
          </a:xfrm>
          <a:prstGeom prst="rect">
            <a:avLst/>
          </a:prstGeom>
        </p:spPr>
        <p:txBody>
          <a:bodyPr anchor="t" rtlCol="false" tIns="0" lIns="0" bIns="0" rIns="0">
            <a:spAutoFit/>
          </a:bodyPr>
          <a:lstStyle/>
          <a:p>
            <a:pPr algn="l">
              <a:lnSpc>
                <a:spcPts val="4899"/>
              </a:lnSpc>
            </a:pPr>
            <a:r>
              <a:rPr lang="en-US" sz="4803" spc="-120">
                <a:solidFill>
                  <a:srgbClr val="141414"/>
                </a:solidFill>
                <a:latin typeface="Arimo"/>
                <a:ea typeface="Arimo"/>
                <a:cs typeface="Arimo"/>
                <a:sym typeface="Arimo"/>
              </a:rPr>
              <a:t>38</a:t>
            </a:r>
          </a:p>
        </p:txBody>
      </p:sp>
      <p:sp>
        <p:nvSpPr>
          <p:cNvPr name="TextBox 18" id="18"/>
          <p:cNvSpPr txBox="true"/>
          <p:nvPr/>
        </p:nvSpPr>
        <p:spPr>
          <a:xfrm rot="0">
            <a:off x="5376167" y="2373906"/>
            <a:ext cx="3431591" cy="555469"/>
          </a:xfrm>
          <a:prstGeom prst="rect">
            <a:avLst/>
          </a:prstGeom>
        </p:spPr>
        <p:txBody>
          <a:bodyPr anchor="t" rtlCol="false" tIns="0" lIns="0" bIns="0" rIns="0">
            <a:spAutoFit/>
          </a:bodyPr>
          <a:lstStyle/>
          <a:p>
            <a:pPr algn="l">
              <a:lnSpc>
                <a:spcPts val="4899"/>
              </a:lnSpc>
            </a:pPr>
            <a:r>
              <a:rPr lang="en-US" sz="4803" spc="-120">
                <a:solidFill>
                  <a:srgbClr val="141414"/>
                </a:solidFill>
                <a:latin typeface="Arimo"/>
                <a:ea typeface="Arimo"/>
                <a:cs typeface="Arimo"/>
                <a:sym typeface="Arimo"/>
              </a:rPr>
              <a:t>7</a:t>
            </a:r>
          </a:p>
        </p:txBody>
      </p:sp>
      <p:sp>
        <p:nvSpPr>
          <p:cNvPr name="TextBox 19" id="19"/>
          <p:cNvSpPr txBox="true"/>
          <p:nvPr/>
        </p:nvSpPr>
        <p:spPr>
          <a:xfrm rot="0">
            <a:off x="9494082" y="2373906"/>
            <a:ext cx="3431591" cy="555469"/>
          </a:xfrm>
          <a:prstGeom prst="rect">
            <a:avLst/>
          </a:prstGeom>
        </p:spPr>
        <p:txBody>
          <a:bodyPr anchor="t" rtlCol="false" tIns="0" lIns="0" bIns="0" rIns="0">
            <a:spAutoFit/>
          </a:bodyPr>
          <a:lstStyle/>
          <a:p>
            <a:pPr algn="l">
              <a:lnSpc>
                <a:spcPts val="4899"/>
              </a:lnSpc>
            </a:pPr>
            <a:r>
              <a:rPr lang="en-US" sz="4803" spc="-120">
                <a:solidFill>
                  <a:srgbClr val="2563EB"/>
                </a:solidFill>
                <a:latin typeface="Arimo"/>
                <a:ea typeface="Arimo"/>
                <a:cs typeface="Arimo"/>
                <a:sym typeface="Arimo"/>
              </a:rPr>
              <a:t>28.6%</a:t>
            </a:r>
          </a:p>
        </p:txBody>
      </p:sp>
      <p:sp>
        <p:nvSpPr>
          <p:cNvPr name="TextBox 20" id="20"/>
          <p:cNvSpPr txBox="true"/>
          <p:nvPr/>
        </p:nvSpPr>
        <p:spPr>
          <a:xfrm rot="0">
            <a:off x="13611997" y="2373906"/>
            <a:ext cx="3774758" cy="555469"/>
          </a:xfrm>
          <a:prstGeom prst="rect">
            <a:avLst/>
          </a:prstGeom>
        </p:spPr>
        <p:txBody>
          <a:bodyPr anchor="t" rtlCol="false" tIns="0" lIns="0" bIns="0" rIns="0">
            <a:spAutoFit/>
          </a:bodyPr>
          <a:lstStyle/>
          <a:p>
            <a:pPr algn="l">
              <a:lnSpc>
                <a:spcPts val="4899"/>
              </a:lnSpc>
            </a:pPr>
            <a:r>
              <a:rPr lang="en-US" sz="4803" spc="-120">
                <a:solidFill>
                  <a:srgbClr val="141414"/>
                </a:solidFill>
                <a:latin typeface="Arimo"/>
                <a:ea typeface="Arimo"/>
                <a:cs typeface="Arimo"/>
                <a:sym typeface="Arimo"/>
              </a:rPr>
              <a:t>76.3%</a:t>
            </a:r>
          </a:p>
        </p:txBody>
      </p:sp>
      <p:sp>
        <p:nvSpPr>
          <p:cNvPr name="TextBox 21" id="21"/>
          <p:cNvSpPr txBox="true"/>
          <p:nvPr/>
        </p:nvSpPr>
        <p:spPr>
          <a:xfrm rot="0">
            <a:off x="13611997" y="3151708"/>
            <a:ext cx="3774758" cy="357426"/>
          </a:xfrm>
          <a:prstGeom prst="rect">
            <a:avLst/>
          </a:prstGeom>
        </p:spPr>
        <p:txBody>
          <a:bodyPr anchor="t" rtlCol="false" tIns="0" lIns="0" bIns="0" rIns="0">
            <a:spAutoFit/>
          </a:bodyPr>
          <a:lstStyle/>
          <a:p>
            <a:pPr algn="l">
              <a:lnSpc>
                <a:spcPts val="2364"/>
              </a:lnSpc>
            </a:pPr>
            <a:r>
              <a:rPr lang="en-US" sz="1576" spc="126">
                <a:solidFill>
                  <a:srgbClr val="000000"/>
                </a:solidFill>
                <a:latin typeface="Arimo"/>
                <a:ea typeface="Arimo"/>
                <a:cs typeface="Arimo"/>
                <a:sym typeface="Arimo"/>
              </a:rPr>
              <a:t>MODEL ACCURACY</a:t>
            </a:r>
          </a:p>
        </p:txBody>
      </p:sp>
      <p:sp>
        <p:nvSpPr>
          <p:cNvPr name="TextBox 22" id="22"/>
          <p:cNvSpPr txBox="true"/>
          <p:nvPr/>
        </p:nvSpPr>
        <p:spPr>
          <a:xfrm rot="0">
            <a:off x="12564679" y="4276096"/>
            <a:ext cx="5338039" cy="867404"/>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Dashboard views</a:t>
            </a:r>
          </a:p>
        </p:txBody>
      </p:sp>
      <p:sp>
        <p:nvSpPr>
          <p:cNvPr name="TextBox 23" id="23"/>
          <p:cNvSpPr txBox="true"/>
          <p:nvPr/>
        </p:nvSpPr>
        <p:spPr>
          <a:xfrm rot="0">
            <a:off x="12564679" y="5076825"/>
            <a:ext cx="5338039" cy="2325862"/>
          </a:xfrm>
          <a:prstGeom prst="rect">
            <a:avLst/>
          </a:prstGeom>
        </p:spPr>
        <p:txBody>
          <a:bodyPr anchor="t" rtlCol="false" tIns="0" lIns="0" bIns="0" rIns="0">
            <a:spAutoFit/>
          </a:bodyPr>
          <a:lstStyle/>
          <a:p>
            <a:pPr algn="l" marL="380641" indent="-190321" lvl="1">
              <a:lnSpc>
                <a:spcPts val="3152"/>
              </a:lnSpc>
              <a:buFont typeface="Arial"/>
              <a:buChar char="•"/>
            </a:pPr>
            <a:r>
              <a:rPr lang="en-US" sz="2101">
                <a:solidFill>
                  <a:srgbClr val="2B2B2B"/>
                </a:solidFill>
                <a:latin typeface="Arimo"/>
                <a:ea typeface="Arimo"/>
                <a:cs typeface="Arimo"/>
                <a:sym typeface="Arimo"/>
              </a:rPr>
              <a:t>Actual vs predicted outcomes</a:t>
            </a:r>
          </a:p>
          <a:p>
            <a:pPr algn="l" marL="380641" indent="-190321" lvl="1">
              <a:lnSpc>
                <a:spcPts val="3152"/>
              </a:lnSpc>
              <a:buFont typeface="Arial"/>
              <a:buChar char="•"/>
            </a:pPr>
            <a:r>
              <a:rPr lang="en-US" sz="2101">
                <a:solidFill>
                  <a:srgbClr val="2B2B2B"/>
                </a:solidFill>
                <a:latin typeface="Arimo"/>
                <a:ea typeface="Arimo"/>
                <a:cs typeface="Arimo"/>
                <a:sym typeface="Arimo"/>
              </a:rPr>
              <a:t>Predicted-risk bands</a:t>
            </a:r>
          </a:p>
          <a:p>
            <a:pPr algn="l" marL="380641" indent="-190321" lvl="1">
              <a:lnSpc>
                <a:spcPts val="3152"/>
              </a:lnSpc>
              <a:buFont typeface="Arial"/>
              <a:buChar char="•"/>
            </a:pPr>
            <a:r>
              <a:rPr lang="en-US" sz="2101">
                <a:solidFill>
                  <a:srgbClr val="2B2B2B"/>
                </a:solidFill>
                <a:latin typeface="Arimo"/>
                <a:ea typeface="Arimo"/>
                <a:cs typeface="Arimo"/>
                <a:sym typeface="Arimo"/>
              </a:rPr>
              <a:t>Probability by patient ID, coloured by actual outcome</a:t>
            </a:r>
          </a:p>
          <a:p>
            <a:pPr algn="l" marL="380641" indent="-190321" lvl="1">
              <a:lnSpc>
                <a:spcPts val="3152"/>
              </a:lnSpc>
              <a:buFont typeface="Arial"/>
              <a:buChar char="•"/>
            </a:pPr>
            <a:r>
              <a:rPr lang="en-US" sz="2101">
                <a:solidFill>
                  <a:srgbClr val="2B2B2B"/>
                </a:solidFill>
                <a:latin typeface="Arimo"/>
                <a:ea typeface="Arimo"/>
                <a:cs typeface="Arimo"/>
                <a:sym typeface="Arimo"/>
              </a:rPr>
              <a:t>Prediction details table</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15095" y="868918"/>
            <a:ext cx="17386744" cy="327793"/>
          </a:xfrm>
          <a:prstGeom prst="rect">
            <a:avLst/>
          </a:prstGeom>
        </p:spPr>
        <p:txBody>
          <a:bodyPr anchor="t" rtlCol="false" tIns="0" lIns="0" bIns="0" rIns="0">
            <a:spAutoFit/>
          </a:bodyPr>
          <a:lstStyle/>
          <a:p>
            <a:pPr algn="l">
              <a:lnSpc>
                <a:spcPts val="2213"/>
              </a:lnSpc>
            </a:pPr>
            <a:r>
              <a:rPr lang="en-US" sz="1576" spc="157">
                <a:solidFill>
                  <a:srgbClr val="6B6965"/>
                </a:solidFill>
                <a:latin typeface="Arimo"/>
                <a:ea typeface="Arimo"/>
                <a:cs typeface="Arimo"/>
                <a:sym typeface="Arimo"/>
              </a:rPr>
              <a:t>CONCLUSION</a:t>
            </a:r>
          </a:p>
        </p:txBody>
      </p:sp>
      <p:sp>
        <p:nvSpPr>
          <p:cNvPr name="TextBox 3" id="3"/>
          <p:cNvSpPr txBox="true"/>
          <p:nvPr/>
        </p:nvSpPr>
        <p:spPr>
          <a:xfrm rot="0">
            <a:off x="915095" y="1412691"/>
            <a:ext cx="16471659" cy="712575"/>
          </a:xfrm>
          <a:prstGeom prst="rect">
            <a:avLst/>
          </a:prstGeom>
        </p:spPr>
        <p:txBody>
          <a:bodyPr anchor="t" rtlCol="false" tIns="0" lIns="0" bIns="0" rIns="0">
            <a:spAutoFit/>
          </a:bodyPr>
          <a:lstStyle/>
          <a:p>
            <a:pPr algn="l">
              <a:lnSpc>
                <a:spcPts val="5836"/>
              </a:lnSpc>
            </a:pPr>
            <a:r>
              <a:rPr lang="en-US" sz="5404" spc="-81">
                <a:solidFill>
                  <a:srgbClr val="141414"/>
                </a:solidFill>
                <a:latin typeface="Arimo"/>
                <a:ea typeface="Arimo"/>
                <a:cs typeface="Arimo"/>
                <a:sym typeface="Arimo"/>
              </a:rPr>
              <a:t>Accuracy alone misleads on imbalanced data</a:t>
            </a:r>
          </a:p>
        </p:txBody>
      </p:sp>
      <p:sp>
        <p:nvSpPr>
          <p:cNvPr name="TextBox 4" id="4"/>
          <p:cNvSpPr txBox="true"/>
          <p:nvPr/>
        </p:nvSpPr>
        <p:spPr>
          <a:xfrm rot="0">
            <a:off x="915095" y="2346379"/>
            <a:ext cx="17386744" cy="467039"/>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Exploration → preprocessing → patient-level split → Categorical Naive Bayes → evaluation → Power BI reporting</a:t>
            </a:r>
          </a:p>
        </p:txBody>
      </p:sp>
      <p:sp>
        <p:nvSpPr>
          <p:cNvPr name="TextBox 5" id="5"/>
          <p:cNvSpPr txBox="true"/>
          <p:nvPr/>
        </p:nvSpPr>
        <p:spPr>
          <a:xfrm rot="0">
            <a:off x="915095" y="3044638"/>
            <a:ext cx="7892672" cy="610019"/>
          </a:xfrm>
          <a:prstGeom prst="rect">
            <a:avLst/>
          </a:prstGeom>
        </p:spPr>
        <p:txBody>
          <a:bodyPr anchor="t" rtlCol="false" tIns="0" lIns="0" bIns="0" rIns="0">
            <a:spAutoFit/>
          </a:bodyPr>
          <a:lstStyle/>
          <a:p>
            <a:pPr algn="l">
              <a:lnSpc>
                <a:spcPts val="4215"/>
              </a:lnSpc>
            </a:pPr>
            <a:r>
              <a:rPr lang="en-US" sz="3002">
                <a:solidFill>
                  <a:srgbClr val="141414"/>
                </a:solidFill>
                <a:latin typeface="Arimo"/>
                <a:ea typeface="Arimo"/>
                <a:cs typeface="Arimo"/>
                <a:sym typeface="Arimo"/>
              </a:rPr>
              <a:t>Limited detection</a:t>
            </a:r>
          </a:p>
        </p:txBody>
      </p:sp>
      <p:sp>
        <p:nvSpPr>
          <p:cNvPr name="TextBox 6" id="6"/>
          <p:cNvSpPr txBox="true"/>
          <p:nvPr/>
        </p:nvSpPr>
        <p:spPr>
          <a:xfrm rot="0">
            <a:off x="915095" y="3828669"/>
            <a:ext cx="7892672" cy="1067581"/>
          </a:xfrm>
          <a:prstGeom prst="rect">
            <a:avLst/>
          </a:prstGeom>
        </p:spPr>
        <p:txBody>
          <a:bodyPr anchor="t" rtlCol="false" tIns="0" lIns="0" bIns="0" rIns="0">
            <a:spAutoFit/>
          </a:bodyPr>
          <a:lstStyle/>
          <a:p>
            <a:pPr algn="l">
              <a:lnSpc>
                <a:spcPts val="3152"/>
              </a:lnSpc>
            </a:pPr>
            <a:r>
              <a:rPr lang="en-US" sz="2101">
                <a:solidFill>
                  <a:srgbClr val="2B2B2B"/>
                </a:solidFill>
                <a:latin typeface="Arimo"/>
                <a:ea typeface="Arimo"/>
                <a:cs typeface="Arimo"/>
                <a:sym typeface="Arimo"/>
              </a:rPr>
              <a:t>Model: 76.3% accuracy, 28.6% recall on 38 test observations.</a:t>
            </a:r>
          </a:p>
          <a:p>
            <a:pPr algn="l">
              <a:lnSpc>
                <a:spcPts val="3152"/>
              </a:lnSpc>
            </a:pPr>
            <a:r>
              <a:rPr lang="en-US" sz="2101">
                <a:solidFill>
                  <a:srgbClr val="2B2B2B"/>
                </a:solidFill>
                <a:latin typeface="Arimo"/>
                <a:ea typeface="Arimo"/>
                <a:cs typeface="Arimo"/>
                <a:sym typeface="Arimo"/>
              </a:rPr>
              <a:t>Baseline: 81.6% accuracy, 0% recall.</a:t>
            </a:r>
          </a:p>
        </p:txBody>
      </p:sp>
      <p:sp>
        <p:nvSpPr>
          <p:cNvPr name="TextBox 7" id="7"/>
          <p:cNvSpPr txBox="true"/>
          <p:nvPr/>
        </p:nvSpPr>
        <p:spPr>
          <a:xfrm rot="0">
            <a:off x="9494082" y="3044638"/>
            <a:ext cx="7892672" cy="610019"/>
          </a:xfrm>
          <a:prstGeom prst="rect">
            <a:avLst/>
          </a:prstGeom>
        </p:spPr>
        <p:txBody>
          <a:bodyPr anchor="t" rtlCol="false" tIns="0" lIns="0" bIns="0" rIns="0">
            <a:spAutoFit/>
          </a:bodyPr>
          <a:lstStyle/>
          <a:p>
            <a:pPr algn="l">
              <a:lnSpc>
                <a:spcPts val="4215"/>
              </a:lnSpc>
            </a:pPr>
            <a:r>
              <a:rPr lang="en-US" sz="3002">
                <a:solidFill>
                  <a:srgbClr val="141414"/>
                </a:solidFill>
                <a:latin typeface="Arimo"/>
                <a:ea typeface="Arimo"/>
                <a:cs typeface="Arimo"/>
                <a:sym typeface="Arimo"/>
              </a:rPr>
              <a:t>Future work</a:t>
            </a:r>
          </a:p>
        </p:txBody>
      </p:sp>
      <p:sp>
        <p:nvSpPr>
          <p:cNvPr name="TextBox 8" id="8"/>
          <p:cNvSpPr txBox="true"/>
          <p:nvPr/>
        </p:nvSpPr>
        <p:spPr>
          <a:xfrm rot="0">
            <a:off x="9494082" y="3828669"/>
            <a:ext cx="7892672" cy="1439351"/>
          </a:xfrm>
          <a:prstGeom prst="rect">
            <a:avLst/>
          </a:prstGeom>
        </p:spPr>
        <p:txBody>
          <a:bodyPr anchor="t" rtlCol="false" tIns="0" lIns="0" bIns="0" rIns="0">
            <a:spAutoFit/>
          </a:bodyPr>
          <a:lstStyle/>
          <a:p>
            <a:pPr algn="l" marL="380641" indent="-190321" lvl="1">
              <a:lnSpc>
                <a:spcPts val="3152"/>
              </a:lnSpc>
              <a:buFont typeface="Arial"/>
              <a:buChar char="•"/>
            </a:pPr>
            <a:r>
              <a:rPr lang="en-US" sz="2101">
                <a:solidFill>
                  <a:srgbClr val="2B2B2B"/>
                </a:solidFill>
                <a:latin typeface="Arimo"/>
                <a:ea typeface="Arimo"/>
                <a:cs typeface="Arimo"/>
                <a:sym typeface="Arimo"/>
              </a:rPr>
              <a:t>Better minority-class detection</a:t>
            </a:r>
          </a:p>
          <a:p>
            <a:pPr algn="l" marL="380641" indent="-190321" lvl="1">
              <a:lnSpc>
                <a:spcPts val="3152"/>
              </a:lnSpc>
              <a:buFont typeface="Arial"/>
              <a:buChar char="•"/>
            </a:pPr>
            <a:r>
              <a:rPr lang="en-US" sz="2101">
                <a:solidFill>
                  <a:srgbClr val="2B2B2B"/>
                </a:solidFill>
                <a:latin typeface="Arimo"/>
                <a:ea typeface="Arimo"/>
                <a:cs typeface="Arimo"/>
                <a:sym typeface="Arimo"/>
              </a:rPr>
              <a:t>Stronger validation</a:t>
            </a:r>
          </a:p>
          <a:p>
            <a:pPr algn="l" marL="380641" indent="-190321" lvl="1">
              <a:lnSpc>
                <a:spcPts val="3152"/>
              </a:lnSpc>
              <a:buFont typeface="Arial"/>
              <a:buChar char="•"/>
            </a:pPr>
            <a:r>
              <a:rPr lang="en-US" sz="2101">
                <a:solidFill>
                  <a:srgbClr val="2B2B2B"/>
                </a:solidFill>
                <a:latin typeface="Arimo"/>
                <a:ea typeface="Arimo"/>
                <a:cs typeface="Arimo"/>
                <a:sym typeface="Arimo"/>
              </a:rPr>
              <a:t>Probability calibration</a:t>
            </a:r>
          </a:p>
        </p:txBody>
      </p:sp>
      <p:sp>
        <p:nvSpPr>
          <p:cNvPr name="TextBox 9" id="9"/>
          <p:cNvSpPr txBox="true"/>
          <p:nvPr/>
        </p:nvSpPr>
        <p:spPr>
          <a:xfrm rot="0">
            <a:off x="915095" y="5487333"/>
            <a:ext cx="17386744" cy="543287"/>
          </a:xfrm>
          <a:prstGeom prst="rect">
            <a:avLst/>
          </a:prstGeom>
        </p:spPr>
        <p:txBody>
          <a:bodyPr anchor="t" rtlCol="false" tIns="0" lIns="0" bIns="0" rIns="0">
            <a:spAutoFit/>
          </a:bodyPr>
          <a:lstStyle/>
          <a:p>
            <a:pPr algn="l">
              <a:lnSpc>
                <a:spcPts val="3602"/>
              </a:lnSpc>
            </a:pPr>
            <a:r>
              <a:rPr lang="en-US" sz="2401">
                <a:solidFill>
                  <a:srgbClr val="2563EB"/>
                </a:solidFill>
                <a:latin typeface="Arimo"/>
                <a:ea typeface="Arimo"/>
                <a:cs typeface="Arimo"/>
                <a:sym typeface="Arimo"/>
              </a:rPr>
              <a:t>Educational research prototype only. Not validated for clinical decisions.</a:t>
            </a:r>
          </a:p>
        </p:txBody>
      </p:sp>
      <p:grpSp>
        <p:nvGrpSpPr>
          <p:cNvPr name="Group 10" id="10"/>
          <p:cNvGrpSpPr/>
          <p:nvPr/>
        </p:nvGrpSpPr>
        <p:grpSpPr>
          <a:xfrm rot="0">
            <a:off x="915095" y="6402381"/>
            <a:ext cx="16471659" cy="28594"/>
            <a:chOff x="0" y="0"/>
            <a:chExt cx="21962212" cy="38125"/>
          </a:xfrm>
        </p:grpSpPr>
        <p:sp>
          <p:nvSpPr>
            <p:cNvPr name="Freeform 11" id="11"/>
            <p:cNvSpPr/>
            <p:nvPr/>
          </p:nvSpPr>
          <p:spPr>
            <a:xfrm flipH="false" flipV="false" rot="0">
              <a:off x="0" y="0"/>
              <a:ext cx="21962238" cy="38100"/>
            </a:xfrm>
            <a:custGeom>
              <a:avLst/>
              <a:gdLst/>
              <a:ahLst/>
              <a:cxnLst/>
              <a:rect r="r" b="b" t="t" l="l"/>
              <a:pathLst>
                <a:path h="38100" w="21962238">
                  <a:moveTo>
                    <a:pt x="0" y="19050"/>
                  </a:moveTo>
                  <a:cubicBezTo>
                    <a:pt x="0" y="8509"/>
                    <a:pt x="8509" y="0"/>
                    <a:pt x="19050" y="0"/>
                  </a:cubicBezTo>
                  <a:lnTo>
                    <a:pt x="21943188" y="0"/>
                  </a:lnTo>
                  <a:cubicBezTo>
                    <a:pt x="21953728" y="0"/>
                    <a:pt x="21962238" y="8509"/>
                    <a:pt x="21962238" y="19050"/>
                  </a:cubicBezTo>
                  <a:cubicBezTo>
                    <a:pt x="21962238" y="29591"/>
                    <a:pt x="21953728" y="38100"/>
                    <a:pt x="21943188" y="38100"/>
                  </a:cubicBezTo>
                  <a:lnTo>
                    <a:pt x="19050" y="38100"/>
                  </a:lnTo>
                  <a:cubicBezTo>
                    <a:pt x="8509" y="38100"/>
                    <a:pt x="0" y="29591"/>
                    <a:pt x="0" y="19050"/>
                  </a:cubicBezTo>
                  <a:close/>
                </a:path>
              </a:pathLst>
            </a:custGeom>
            <a:solidFill>
              <a:srgbClr val="C8C5BE"/>
            </a:solidFill>
          </p:spPr>
        </p:sp>
      </p:grpSp>
      <p:sp>
        <p:nvSpPr>
          <p:cNvPr name="TextBox 12" id="12"/>
          <p:cNvSpPr txBox="true"/>
          <p:nvPr/>
        </p:nvSpPr>
        <p:spPr>
          <a:xfrm rot="0">
            <a:off x="915095" y="7022030"/>
            <a:ext cx="16471659" cy="457514"/>
          </a:xfrm>
          <a:prstGeom prst="rect">
            <a:avLst/>
          </a:prstGeom>
        </p:spPr>
        <p:txBody>
          <a:bodyPr anchor="t" rtlCol="false" tIns="0" lIns="0" bIns="0" rIns="0">
            <a:spAutoFit/>
          </a:bodyPr>
          <a:lstStyle/>
          <a:p>
            <a:pPr algn="l">
              <a:lnSpc>
                <a:spcPts val="3161"/>
              </a:lnSpc>
            </a:pPr>
            <a:r>
              <a:rPr lang="en-US" sz="2251">
                <a:solidFill>
                  <a:srgbClr val="141414"/>
                </a:solidFill>
                <a:latin typeface="Arimo"/>
                <a:ea typeface="Arimo"/>
                <a:cs typeface="Arimo"/>
                <a:sym typeface="Arimo"/>
              </a:rPr>
              <a:t>References and verification</a:t>
            </a:r>
          </a:p>
        </p:txBody>
      </p:sp>
      <p:sp>
        <p:nvSpPr>
          <p:cNvPr name="TextBox 13" id="13"/>
          <p:cNvSpPr txBox="true"/>
          <p:nvPr/>
        </p:nvSpPr>
        <p:spPr>
          <a:xfrm rot="0">
            <a:off x="915095" y="7636897"/>
            <a:ext cx="16471659" cy="1071507"/>
          </a:xfrm>
          <a:prstGeom prst="rect">
            <a:avLst/>
          </a:prstGeom>
        </p:spPr>
        <p:txBody>
          <a:bodyPr anchor="t" rtlCol="false" tIns="0" lIns="0" bIns="0" rIns="0">
            <a:spAutoFit/>
          </a:bodyPr>
          <a:lstStyle/>
          <a:p>
            <a:pPr algn="l">
              <a:lnSpc>
                <a:spcPts val="2814"/>
              </a:lnSpc>
            </a:pPr>
            <a:r>
              <a:rPr lang="en-US" sz="1876">
                <a:solidFill>
                  <a:srgbClr val="2B2B2B"/>
                </a:solidFill>
                <a:latin typeface="Arimo"/>
                <a:ea typeface="Arimo"/>
                <a:cs typeface="Arimo"/>
                <a:sym typeface="Arimo"/>
              </a:rPr>
              <a:t>Spyroglou et al. (2018), “Evaluation of Bayesian classifiers in asthma exacerbation prediction after medication discontinuation”  supplied asthma exacerbation dataset</a:t>
            </a:r>
          </a:p>
          <a:p>
            <a:pPr algn="l">
              <a:lnSpc>
                <a:spcPts val="2814"/>
              </a:lnSpc>
            </a:pPr>
            <a:r>
              <a:rPr lang="en-US" sz="1876">
                <a:solidFill>
                  <a:srgbClr val="2B2B2B"/>
                </a:solidFill>
                <a:latin typeface="Arimo"/>
                <a:ea typeface="Arimo"/>
                <a:cs typeface="Arimo"/>
                <a:sym typeface="Arimo"/>
              </a:rPr>
              <a:t>pandas documentation; scikit-learn documentation: CategoricalNB, OrdinalEncoder, LabelEncoder and metrics.</a:t>
            </a:r>
          </a:p>
        </p:txBody>
      </p:sp>
      <p:grpSp>
        <p:nvGrpSpPr>
          <p:cNvPr name="Group 14" id="14"/>
          <p:cNvGrpSpPr/>
          <p:nvPr/>
        </p:nvGrpSpPr>
        <p:grpSpPr>
          <a:xfrm rot="0">
            <a:off x="9141390" y="3118447"/>
            <a:ext cx="19069" cy="2149564"/>
            <a:chOff x="0" y="0"/>
            <a:chExt cx="25425" cy="2866085"/>
          </a:xfrm>
        </p:grpSpPr>
        <p:sp>
          <p:nvSpPr>
            <p:cNvPr name="Freeform 15" id="15"/>
            <p:cNvSpPr/>
            <p:nvPr/>
          </p:nvSpPr>
          <p:spPr>
            <a:xfrm flipH="false" flipV="false" rot="0">
              <a:off x="0" y="0"/>
              <a:ext cx="25400" cy="2866136"/>
            </a:xfrm>
            <a:custGeom>
              <a:avLst/>
              <a:gdLst/>
              <a:ahLst/>
              <a:cxnLst/>
              <a:rect r="r" b="b" t="t" l="l"/>
              <a:pathLst>
                <a:path h="2866136" w="25400">
                  <a:moveTo>
                    <a:pt x="0" y="0"/>
                  </a:moveTo>
                  <a:lnTo>
                    <a:pt x="25400" y="0"/>
                  </a:lnTo>
                  <a:lnTo>
                    <a:pt x="25400" y="2866136"/>
                  </a:lnTo>
                  <a:lnTo>
                    <a:pt x="0" y="2866136"/>
                  </a:lnTo>
                  <a:close/>
                </a:path>
              </a:pathLst>
            </a:custGeom>
            <a:solidFill>
              <a:srgbClr val="C8C5BE"/>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DAHX9CrXf9E</dc:identifier>
  <dcterms:modified xsi:type="dcterms:W3CDTF">2011-08-01T06:04:30Z</dcterms:modified>
  <cp:revision>1</cp:revision>
  <dc:title>Asthma-Exacerbation-Risk-Prediction-Using-Categorical-Naive-Bayes.pptx</dc:title>
</cp:coreProperties>
</file>